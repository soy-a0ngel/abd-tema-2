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299" r:id="rId5"/>
    <p:sldId id="300" r:id="rId6"/>
    <p:sldId id="301" r:id="rId7"/>
    <p:sldId id="302" r:id="rId8"/>
    <p:sldId id="303" r:id="rId9"/>
    <p:sldId id="304" r:id="rId10"/>
    <p:sldId id="305" r:id="rId11"/>
    <p:sldId id="306" r:id="rId12"/>
    <p:sldId id="266" r:id="rId13"/>
    <p:sldId id="30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82" d="100"/>
          <a:sy n="82" d="100"/>
        </p:scale>
        <p:origin x="53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5/10/2026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hyperlink" Target="http://localhost:8080/api/student/all" TargetMode="External"/><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Administración de Base de Datos</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Sexto </a:t>
            </a:r>
            <a:r>
              <a:rPr lang="es-MX" sz="2000" cap="none" dirty="0"/>
              <a:t>Semestre </a:t>
            </a:r>
          </a:p>
          <a:p>
            <a:endParaRPr lang="es-MX" sz="2000" dirty="0"/>
          </a:p>
          <a:p>
            <a:r>
              <a:rPr lang="es-MX" sz="2000" b="1" dirty="0"/>
              <a:t>Fecha:</a:t>
            </a:r>
          </a:p>
          <a:p>
            <a:r>
              <a:rPr lang="es-US" sz="2000"/>
              <a:t>26/04/2026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1083109" y="1152933"/>
            <a:ext cx="10178651" cy="5517621"/>
          </a:xfrm>
        </p:spPr>
        <p:txBody>
          <a:bodyPr>
            <a:normAutofit/>
          </a:bodyPr>
          <a:lstStyle/>
          <a:p>
            <a:pPr marL="0" indent="0" algn="just">
              <a:buNone/>
            </a:pPr>
            <a:r>
              <a:rPr lang="es-US" dirty="0"/>
              <a:t>Este reporte detalla la implementación y validación de una arquitectura de </a:t>
            </a:r>
            <a:r>
              <a:rPr lang="es-US" dirty="0" err="1"/>
              <a:t>microservicios</a:t>
            </a:r>
            <a:r>
              <a:rPr lang="es-US" dirty="0"/>
              <a:t> diseñada para la gestión académica de estudiantes y cursos. A través del uso de la herramienta de pruebas Bruno, se documenta la interacción con una API REST alojada localmente que permite la administración de entidades mediante operaciones CRUD (</a:t>
            </a:r>
            <a:r>
              <a:rPr lang="es-US" dirty="0" err="1"/>
              <a:t>Create</a:t>
            </a:r>
            <a:r>
              <a:rPr lang="es-US" dirty="0"/>
              <a:t>, </a:t>
            </a:r>
            <a:r>
              <a:rPr lang="es-US" dirty="0" err="1"/>
              <a:t>Read</a:t>
            </a:r>
            <a:r>
              <a:rPr lang="es-US" dirty="0"/>
              <a:t>, </a:t>
            </a:r>
            <a:r>
              <a:rPr lang="es-US" dirty="0" err="1"/>
              <a:t>Update</a:t>
            </a:r>
            <a:r>
              <a:rPr lang="es-US" dirty="0"/>
              <a:t>, </a:t>
            </a:r>
            <a:r>
              <a:rPr lang="es-US" dirty="0" err="1"/>
              <a:t>Delete</a:t>
            </a:r>
            <a:r>
              <a:rPr lang="es-US" dirty="0"/>
              <a:t>). El ejercicio se centra en verificar la persistencia de datos y la integridad de las relaciones entre las colecciones de estudiantes y los cursos asignados, asegurando que las peticiones HTTP (GET y POST) devuelvan estados de respuesta correctos (como 200 OK y 201 </a:t>
            </a:r>
            <a:r>
              <a:rPr lang="es-US" dirty="0" err="1"/>
              <a:t>Created</a:t>
            </a:r>
            <a:r>
              <a:rPr lang="es-US" dirty="0"/>
              <a:t>) y cuerpos de respuesta en formato JSON coherentes con la base de datos.</a:t>
            </a:r>
            <a:endParaRPr lang="es-MX" dirty="0"/>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a:xfrm>
            <a:off x="919119" y="0"/>
            <a:ext cx="10353761" cy="1326321"/>
          </a:xfrm>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919119" y="1217156"/>
            <a:ext cx="10363826" cy="5559138"/>
          </a:xfrm>
        </p:spPr>
        <p:txBody>
          <a:bodyPr>
            <a:normAutofit/>
          </a:bodyPr>
          <a:lstStyle/>
          <a:p>
            <a:pPr marL="0" indent="0" algn="just">
              <a:buNone/>
            </a:pPr>
            <a:r>
              <a:rPr lang="es-US" dirty="0"/>
              <a:t>​​La importancia de esta actividad radica en la necesidad de dominar la comunicación entre servicios y la manipulación de datos en entornos de desarrollo modernos. Se justifica por los siguientes puntos:</a:t>
            </a:r>
          </a:p>
          <a:p>
            <a:pPr algn="just"/>
            <a:r>
              <a:rPr lang="es-US" dirty="0"/>
              <a:t>Validación de Flujos de Datos: Es fundamental confirmar que los datos creados mediante peticiones POST (como el registro del alumno “</a:t>
            </a:r>
            <a:r>
              <a:rPr lang="es-US" dirty="0" err="1"/>
              <a:t>Angel</a:t>
            </a:r>
            <a:r>
              <a:rPr lang="es-US" dirty="0"/>
              <a:t> Ortiz” o el curso de “Programación Web”) se reflejen correctamente al realizar consultas GET. </a:t>
            </a:r>
          </a:p>
          <a:p>
            <a:pPr algn="just"/>
            <a:r>
              <a:rPr lang="es-US" dirty="0"/>
              <a:t>Gestión de Relaciones: El proyecto permite entender cómo se vinculan diferentes entidades, validando que un estudiante pueda ser asignado a un curso específico y que el sistema sea capaz de recuperar estas listas vinculadas mediante </a:t>
            </a:r>
            <a:r>
              <a:rPr lang="es-US" dirty="0" err="1"/>
              <a:t>endpoints</a:t>
            </a:r>
            <a:r>
              <a:rPr lang="es-US" dirty="0"/>
              <a:t> especializados como /api/</a:t>
            </a:r>
            <a:r>
              <a:rPr lang="es-US" dirty="0" err="1"/>
              <a:t>course</a:t>
            </a:r>
            <a:r>
              <a:rPr lang="es-US" dirty="0"/>
              <a:t>/</a:t>
            </a:r>
            <a:r>
              <a:rPr lang="es-US" dirty="0" err="1"/>
              <a:t>search-student</a:t>
            </a:r>
            <a:r>
              <a:rPr lang="es-US" dirty="0"/>
              <a:t>/{id}. </a:t>
            </a:r>
          </a:p>
          <a:p>
            <a:pPr algn="just"/>
            <a:r>
              <a:rPr lang="es-US" dirty="0"/>
              <a:t>Depuración y Pruebas: El uso de herramientas como Bruno facilita la identificación de errores en los </a:t>
            </a:r>
            <a:r>
              <a:rPr lang="es-US" dirty="0" err="1"/>
              <a:t>endpoints</a:t>
            </a:r>
            <a:r>
              <a:rPr lang="es-US" dirty="0"/>
              <a:t> y asegura que el servidor responda con los códigos de estado adecuados según el estándar HTTP. </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A44E8D6-394E-CA55-FA43-B1CC5C280B66}"/>
              </a:ext>
            </a:extLst>
          </p:cNvPr>
          <p:cNvSpPr>
            <a:spLocks noGrp="1"/>
          </p:cNvSpPr>
          <p:nvPr>
            <p:ph sz="quarter" idx="13"/>
          </p:nvPr>
        </p:nvSpPr>
        <p:spPr>
          <a:xfrm>
            <a:off x="258364" y="173812"/>
            <a:ext cx="5134730" cy="3424107"/>
          </a:xfrm>
        </p:spPr>
        <p:txBody>
          <a:bodyPr/>
          <a:lstStyle/>
          <a:p>
            <a:pPr marL="0" indent="0">
              <a:buNone/>
            </a:pPr>
            <a:endParaRPr lang="es-US" dirty="0"/>
          </a:p>
          <a:p>
            <a:pPr marL="0" indent="0" algn="just">
              <a:buNone/>
            </a:pPr>
            <a:r>
              <a:rPr lang="es-US" dirty="0"/>
              <a:t>1. Intenta hacer el GET a http://localhost:8080/api/course/search-student/1.</a:t>
            </a:r>
          </a:p>
        </p:txBody>
      </p:sp>
      <p:pic>
        <p:nvPicPr>
          <p:cNvPr id="6" name="Imagen 5">
            <a:extLst>
              <a:ext uri="{FF2B5EF4-FFF2-40B4-BE49-F238E27FC236}">
                <a16:creationId xmlns:a16="http://schemas.microsoft.com/office/drawing/2014/main" id="{8DA7C168-5ABD-9597-F34B-52E424AC546C}"/>
              </a:ext>
            </a:extLst>
          </p:cNvPr>
          <p:cNvPicPr>
            <a:picLocks noChangeAspect="1"/>
          </p:cNvPicPr>
          <p:nvPr/>
        </p:nvPicPr>
        <p:blipFill>
          <a:blip r:embed="rId2"/>
          <a:srcRect r="14473" b="15570"/>
          <a:stretch>
            <a:fillRect/>
          </a:stretch>
        </p:blipFill>
        <p:spPr>
          <a:xfrm>
            <a:off x="312945" y="2150739"/>
            <a:ext cx="5212405" cy="2894357"/>
          </a:xfrm>
          <a:prstGeom prst="rect">
            <a:avLst/>
          </a:prstGeom>
        </p:spPr>
      </p:pic>
      <p:sp>
        <p:nvSpPr>
          <p:cNvPr id="10" name="Marcador de contenido 2">
            <a:extLst>
              <a:ext uri="{FF2B5EF4-FFF2-40B4-BE49-F238E27FC236}">
                <a16:creationId xmlns:a16="http://schemas.microsoft.com/office/drawing/2014/main" id="{DBE416FC-AD60-4229-1D5F-24CB4A6B32D5}"/>
              </a:ext>
            </a:extLst>
          </p:cNvPr>
          <p:cNvSpPr txBox="1">
            <a:spLocks/>
          </p:cNvSpPr>
          <p:nvPr/>
        </p:nvSpPr>
        <p:spPr>
          <a:xfrm>
            <a:off x="6997807" y="173811"/>
            <a:ext cx="4935829"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Font typeface="Arial" panose="020B0604020202020204" pitchFamily="34" charset="0"/>
              <a:buNone/>
            </a:pPr>
            <a:endParaRPr lang="es-US" dirty="0"/>
          </a:p>
          <a:p>
            <a:pPr marL="0" indent="0" algn="just">
              <a:buFont typeface="Arial" panose="020B0604020202020204" pitchFamily="34" charset="0"/>
              <a:buNone/>
            </a:pPr>
            <a:r>
              <a:rPr lang="es-US" dirty="0"/>
              <a:t>2. Intenta hacer el GET a http://localhost:8080/api/course/search-student/2.</a:t>
            </a:r>
          </a:p>
        </p:txBody>
      </p:sp>
      <p:pic>
        <p:nvPicPr>
          <p:cNvPr id="13" name="Imagen 12">
            <a:extLst>
              <a:ext uri="{FF2B5EF4-FFF2-40B4-BE49-F238E27FC236}">
                <a16:creationId xmlns:a16="http://schemas.microsoft.com/office/drawing/2014/main" id="{8387D5BF-5AF6-681D-6BC1-038AAF0C3A70}"/>
              </a:ext>
            </a:extLst>
          </p:cNvPr>
          <p:cNvPicPr>
            <a:picLocks noChangeAspect="1"/>
          </p:cNvPicPr>
          <p:nvPr/>
        </p:nvPicPr>
        <p:blipFill>
          <a:blip r:embed="rId3"/>
          <a:srcRect l="7011" r="9197" b="26083"/>
          <a:stretch>
            <a:fillRect/>
          </a:stretch>
        </p:blipFill>
        <p:spPr>
          <a:xfrm>
            <a:off x="6721233" y="2162020"/>
            <a:ext cx="5106644" cy="2533960"/>
          </a:xfrm>
          <a:prstGeom prst="rect">
            <a:avLst/>
          </a:prstGeom>
        </p:spPr>
      </p:pic>
    </p:spTree>
    <p:extLst>
      <p:ext uri="{BB962C8B-B14F-4D97-AF65-F5344CB8AC3E}">
        <p14:creationId xmlns:p14="http://schemas.microsoft.com/office/powerpoint/2010/main" val="1604885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B1177BF4-2CAD-85C1-E6E2-E991933E0849}"/>
              </a:ext>
            </a:extLst>
          </p:cNvPr>
          <p:cNvSpPr>
            <a:spLocks noGrp="1"/>
          </p:cNvSpPr>
          <p:nvPr>
            <p:ph sz="quarter" idx="13"/>
          </p:nvPr>
        </p:nvSpPr>
        <p:spPr>
          <a:xfrm>
            <a:off x="187315" y="-341293"/>
            <a:ext cx="4935191" cy="3424107"/>
          </a:xfrm>
        </p:spPr>
        <p:txBody>
          <a:bodyPr/>
          <a:lstStyle/>
          <a:p>
            <a:pPr marL="0" indent="0">
              <a:buNone/>
            </a:pPr>
            <a:endParaRPr lang="es-US" dirty="0"/>
          </a:p>
          <a:p>
            <a:pPr marL="0" indent="0" algn="just">
              <a:buNone/>
            </a:pPr>
            <a:r>
              <a:rPr lang="es-US" dirty="0"/>
              <a:t>3. Intenta hacer el GET a http://localhost:8080/api/course/search-student/3.</a:t>
            </a:r>
          </a:p>
        </p:txBody>
      </p:sp>
      <p:pic>
        <p:nvPicPr>
          <p:cNvPr id="8" name="Imagen 7">
            <a:extLst>
              <a:ext uri="{FF2B5EF4-FFF2-40B4-BE49-F238E27FC236}">
                <a16:creationId xmlns:a16="http://schemas.microsoft.com/office/drawing/2014/main" id="{5E81343C-7B36-F80C-0DE4-D91274432478}"/>
              </a:ext>
            </a:extLst>
          </p:cNvPr>
          <p:cNvPicPr>
            <a:picLocks noChangeAspect="1"/>
          </p:cNvPicPr>
          <p:nvPr/>
        </p:nvPicPr>
        <p:blipFill>
          <a:blip r:embed="rId2"/>
          <a:srcRect l="10903" t="12942" r="9271" b="21022"/>
          <a:stretch>
            <a:fillRect/>
          </a:stretch>
        </p:blipFill>
        <p:spPr>
          <a:xfrm>
            <a:off x="187315" y="1510502"/>
            <a:ext cx="4866853" cy="2264685"/>
          </a:xfrm>
          <a:prstGeom prst="rect">
            <a:avLst/>
          </a:prstGeom>
        </p:spPr>
      </p:pic>
      <p:sp>
        <p:nvSpPr>
          <p:cNvPr id="10" name="Marcador de contenido 2">
            <a:extLst>
              <a:ext uri="{FF2B5EF4-FFF2-40B4-BE49-F238E27FC236}">
                <a16:creationId xmlns:a16="http://schemas.microsoft.com/office/drawing/2014/main" id="{F5E85370-88C2-13F4-9902-423A816D117B}"/>
              </a:ext>
            </a:extLst>
          </p:cNvPr>
          <p:cNvSpPr txBox="1">
            <a:spLocks/>
          </p:cNvSpPr>
          <p:nvPr/>
        </p:nvSpPr>
        <p:spPr>
          <a:xfrm>
            <a:off x="6725240" y="-341294"/>
            <a:ext cx="4672790"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Font typeface="Arial" panose="020B0604020202020204" pitchFamily="34" charset="0"/>
              <a:buNone/>
            </a:pPr>
            <a:endParaRPr lang="es-US" dirty="0"/>
          </a:p>
          <a:p>
            <a:pPr marL="0" indent="0" algn="just">
              <a:buFont typeface="Arial" panose="020B0604020202020204" pitchFamily="34" charset="0"/>
              <a:buNone/>
            </a:pPr>
            <a:r>
              <a:rPr lang="es-US" dirty="0"/>
              <a:t>4. Intenta hacer el GET a http://localhost:8080/api/course/search-student/4.</a:t>
            </a:r>
          </a:p>
        </p:txBody>
      </p:sp>
      <p:pic>
        <p:nvPicPr>
          <p:cNvPr id="13" name="Imagen 12">
            <a:extLst>
              <a:ext uri="{FF2B5EF4-FFF2-40B4-BE49-F238E27FC236}">
                <a16:creationId xmlns:a16="http://schemas.microsoft.com/office/drawing/2014/main" id="{4A09E0F6-F959-BFFE-328F-76785F6A1343}"/>
              </a:ext>
            </a:extLst>
          </p:cNvPr>
          <p:cNvPicPr>
            <a:picLocks noChangeAspect="1"/>
          </p:cNvPicPr>
          <p:nvPr/>
        </p:nvPicPr>
        <p:blipFill>
          <a:blip r:embed="rId3"/>
          <a:srcRect l="15113" r="1637" b="35925"/>
          <a:stretch>
            <a:fillRect/>
          </a:stretch>
        </p:blipFill>
        <p:spPr>
          <a:xfrm>
            <a:off x="6167051" y="1370759"/>
            <a:ext cx="5230979" cy="2264685"/>
          </a:xfrm>
          <a:prstGeom prst="rect">
            <a:avLst/>
          </a:prstGeom>
        </p:spPr>
      </p:pic>
      <p:sp>
        <p:nvSpPr>
          <p:cNvPr id="15" name="Marcador de contenido 2">
            <a:extLst>
              <a:ext uri="{FF2B5EF4-FFF2-40B4-BE49-F238E27FC236}">
                <a16:creationId xmlns:a16="http://schemas.microsoft.com/office/drawing/2014/main" id="{204F9531-2361-C2CE-4716-38425744EAAF}"/>
              </a:ext>
            </a:extLst>
          </p:cNvPr>
          <p:cNvSpPr txBox="1">
            <a:spLocks/>
          </p:cNvSpPr>
          <p:nvPr/>
        </p:nvSpPr>
        <p:spPr>
          <a:xfrm>
            <a:off x="187315" y="3914928"/>
            <a:ext cx="5075150"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Font typeface="Arial" panose="020B0604020202020204" pitchFamily="34" charset="0"/>
              <a:buNone/>
            </a:pPr>
            <a:endParaRPr lang="es-US" dirty="0"/>
          </a:p>
          <a:p>
            <a:pPr marL="0" indent="0" algn="just">
              <a:buFont typeface="Arial" panose="020B0604020202020204" pitchFamily="34" charset="0"/>
              <a:buNone/>
            </a:pPr>
            <a:r>
              <a:rPr lang="es-US" dirty="0"/>
              <a:t>5. Intenta hacer el GET a http://localhost:8080/api/course/search-student/5.</a:t>
            </a:r>
          </a:p>
        </p:txBody>
      </p:sp>
      <p:pic>
        <p:nvPicPr>
          <p:cNvPr id="18" name="Imagen 17">
            <a:extLst>
              <a:ext uri="{FF2B5EF4-FFF2-40B4-BE49-F238E27FC236}">
                <a16:creationId xmlns:a16="http://schemas.microsoft.com/office/drawing/2014/main" id="{BDFFD6B5-BB08-A4BD-B463-6C17A7F1DF57}"/>
              </a:ext>
            </a:extLst>
          </p:cNvPr>
          <p:cNvPicPr>
            <a:picLocks noChangeAspect="1"/>
          </p:cNvPicPr>
          <p:nvPr/>
        </p:nvPicPr>
        <p:blipFill>
          <a:blip r:embed="rId4"/>
          <a:srcRect t="10821" b="34898"/>
          <a:stretch>
            <a:fillRect/>
          </a:stretch>
        </p:blipFill>
        <p:spPr>
          <a:xfrm>
            <a:off x="5343324" y="4228300"/>
            <a:ext cx="6283391" cy="1918497"/>
          </a:xfrm>
          <a:prstGeom prst="rect">
            <a:avLst/>
          </a:prstGeom>
        </p:spPr>
      </p:pic>
    </p:spTree>
    <p:extLst>
      <p:ext uri="{BB962C8B-B14F-4D97-AF65-F5344CB8AC3E}">
        <p14:creationId xmlns:p14="http://schemas.microsoft.com/office/powerpoint/2010/main" val="2986766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2">
            <a:extLst>
              <a:ext uri="{FF2B5EF4-FFF2-40B4-BE49-F238E27FC236}">
                <a16:creationId xmlns:a16="http://schemas.microsoft.com/office/drawing/2014/main" id="{8EAF8D48-3C23-F80B-7120-F010B8AF7E0E}"/>
              </a:ext>
            </a:extLst>
          </p:cNvPr>
          <p:cNvSpPr>
            <a:spLocks noGrp="1"/>
          </p:cNvSpPr>
          <p:nvPr>
            <p:ph sz="quarter" idx="13"/>
          </p:nvPr>
        </p:nvSpPr>
        <p:spPr>
          <a:xfrm>
            <a:off x="258364" y="156049"/>
            <a:ext cx="4882803" cy="3424107"/>
          </a:xfrm>
        </p:spPr>
        <p:txBody>
          <a:bodyPr/>
          <a:lstStyle/>
          <a:p>
            <a:pPr marL="0" indent="0">
              <a:buNone/>
            </a:pPr>
            <a:endParaRPr lang="es-US" dirty="0"/>
          </a:p>
          <a:p>
            <a:pPr marL="0" indent="0" algn="just">
              <a:buNone/>
            </a:pPr>
            <a:r>
              <a:rPr lang="es-US" dirty="0"/>
              <a:t>6. Intenta hacer el GET a http://localhost:8080/student/search-by-course)/1.</a:t>
            </a:r>
          </a:p>
        </p:txBody>
      </p:sp>
      <p:pic>
        <p:nvPicPr>
          <p:cNvPr id="10" name="Imagen 9">
            <a:extLst>
              <a:ext uri="{FF2B5EF4-FFF2-40B4-BE49-F238E27FC236}">
                <a16:creationId xmlns:a16="http://schemas.microsoft.com/office/drawing/2014/main" id="{44D9C5CC-EB0B-DF9D-6441-82D258C87752}"/>
              </a:ext>
            </a:extLst>
          </p:cNvPr>
          <p:cNvPicPr>
            <a:picLocks noChangeAspect="1"/>
          </p:cNvPicPr>
          <p:nvPr/>
        </p:nvPicPr>
        <p:blipFill>
          <a:blip r:embed="rId2"/>
          <a:srcRect r="9109" b="11943"/>
          <a:stretch>
            <a:fillRect/>
          </a:stretch>
        </p:blipFill>
        <p:spPr>
          <a:xfrm>
            <a:off x="258364" y="2159000"/>
            <a:ext cx="5539253" cy="3018692"/>
          </a:xfrm>
          <a:prstGeom prst="rect">
            <a:avLst/>
          </a:prstGeom>
        </p:spPr>
      </p:pic>
      <p:sp>
        <p:nvSpPr>
          <p:cNvPr id="12" name="Marcador de contenido 2">
            <a:extLst>
              <a:ext uri="{FF2B5EF4-FFF2-40B4-BE49-F238E27FC236}">
                <a16:creationId xmlns:a16="http://schemas.microsoft.com/office/drawing/2014/main" id="{0E3D2606-C1BF-4282-0044-6A35FB9F59D8}"/>
              </a:ext>
            </a:extLst>
          </p:cNvPr>
          <p:cNvSpPr txBox="1">
            <a:spLocks/>
          </p:cNvSpPr>
          <p:nvPr/>
        </p:nvSpPr>
        <p:spPr>
          <a:xfrm>
            <a:off x="6538736" y="156049"/>
            <a:ext cx="5059215"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Font typeface="Arial" panose="020B0604020202020204" pitchFamily="34" charset="0"/>
              <a:buNone/>
            </a:pPr>
            <a:endParaRPr lang="es-US" dirty="0"/>
          </a:p>
          <a:p>
            <a:pPr marL="0" indent="0" algn="just">
              <a:buFont typeface="Arial" panose="020B0604020202020204" pitchFamily="34" charset="0"/>
              <a:buNone/>
            </a:pPr>
            <a:r>
              <a:rPr lang="es-US" dirty="0"/>
              <a:t>7. Intenta hacer el GET a http://localhost:8080/student/search-by-course)/2.</a:t>
            </a:r>
          </a:p>
        </p:txBody>
      </p:sp>
      <p:pic>
        <p:nvPicPr>
          <p:cNvPr id="15" name="Imagen 14">
            <a:extLst>
              <a:ext uri="{FF2B5EF4-FFF2-40B4-BE49-F238E27FC236}">
                <a16:creationId xmlns:a16="http://schemas.microsoft.com/office/drawing/2014/main" id="{8EB45B4B-F0E0-CED8-DE58-22CB76C5F941}"/>
              </a:ext>
            </a:extLst>
          </p:cNvPr>
          <p:cNvPicPr>
            <a:picLocks noChangeAspect="1"/>
          </p:cNvPicPr>
          <p:nvPr/>
        </p:nvPicPr>
        <p:blipFill>
          <a:blip r:embed="rId3"/>
          <a:srcRect l="7390" r="13044" b="2875"/>
          <a:stretch>
            <a:fillRect/>
          </a:stretch>
        </p:blipFill>
        <p:spPr>
          <a:xfrm>
            <a:off x="6610097" y="2159000"/>
            <a:ext cx="4849091" cy="3329532"/>
          </a:xfrm>
          <a:prstGeom prst="rect">
            <a:avLst/>
          </a:prstGeom>
        </p:spPr>
      </p:pic>
    </p:spTree>
    <p:extLst>
      <p:ext uri="{BB962C8B-B14F-4D97-AF65-F5344CB8AC3E}">
        <p14:creationId xmlns:p14="http://schemas.microsoft.com/office/powerpoint/2010/main" val="4062190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2">
            <a:extLst>
              <a:ext uri="{FF2B5EF4-FFF2-40B4-BE49-F238E27FC236}">
                <a16:creationId xmlns:a16="http://schemas.microsoft.com/office/drawing/2014/main" id="{24648AD5-708D-E323-931A-1999966161EC}"/>
              </a:ext>
            </a:extLst>
          </p:cNvPr>
          <p:cNvSpPr>
            <a:spLocks noGrp="1"/>
          </p:cNvSpPr>
          <p:nvPr>
            <p:ph sz="quarter" idx="13"/>
          </p:nvPr>
        </p:nvSpPr>
        <p:spPr>
          <a:xfrm>
            <a:off x="726476" y="582343"/>
            <a:ext cx="4646856" cy="3424107"/>
          </a:xfrm>
        </p:spPr>
        <p:txBody>
          <a:bodyPr/>
          <a:lstStyle/>
          <a:p>
            <a:pPr marL="0" indent="0">
              <a:buNone/>
            </a:pPr>
            <a:endParaRPr lang="es-US" dirty="0"/>
          </a:p>
          <a:p>
            <a:pPr marL="0" indent="0" algn="just">
              <a:buNone/>
            </a:pPr>
            <a:r>
              <a:rPr lang="es-US" dirty="0"/>
              <a:t>8. Intenta hacer el GET a http://localhost:8080/student/search-by-course)/1.</a:t>
            </a:r>
          </a:p>
        </p:txBody>
      </p:sp>
      <p:pic>
        <p:nvPicPr>
          <p:cNvPr id="10" name="Imagen 9">
            <a:extLst>
              <a:ext uri="{FF2B5EF4-FFF2-40B4-BE49-F238E27FC236}">
                <a16:creationId xmlns:a16="http://schemas.microsoft.com/office/drawing/2014/main" id="{32468E41-9CE1-4EA9-2BAE-05850057F58E}"/>
              </a:ext>
            </a:extLst>
          </p:cNvPr>
          <p:cNvPicPr>
            <a:picLocks noChangeAspect="1"/>
          </p:cNvPicPr>
          <p:nvPr/>
        </p:nvPicPr>
        <p:blipFill>
          <a:blip r:embed="rId2"/>
          <a:srcRect b="20789"/>
          <a:stretch>
            <a:fillRect/>
          </a:stretch>
        </p:blipFill>
        <p:spPr>
          <a:xfrm>
            <a:off x="5442960" y="231991"/>
            <a:ext cx="6096888" cy="2716541"/>
          </a:xfrm>
          <a:prstGeom prst="rect">
            <a:avLst/>
          </a:prstGeom>
        </p:spPr>
      </p:pic>
      <p:sp>
        <p:nvSpPr>
          <p:cNvPr id="3" name="Marcador de contenido 2">
            <a:extLst>
              <a:ext uri="{FF2B5EF4-FFF2-40B4-BE49-F238E27FC236}">
                <a16:creationId xmlns:a16="http://schemas.microsoft.com/office/drawing/2014/main" id="{996B13A3-CE17-1867-4D66-C87EFEAC9E70}"/>
              </a:ext>
            </a:extLst>
          </p:cNvPr>
          <p:cNvSpPr txBox="1">
            <a:spLocks/>
          </p:cNvSpPr>
          <p:nvPr/>
        </p:nvSpPr>
        <p:spPr>
          <a:xfrm>
            <a:off x="656848" y="3496771"/>
            <a:ext cx="4786112"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dirty="0"/>
              <a:t>9. GET para la colección de microservicios en Bruno. Estás recibiendo una respuesta 200 OK de </a:t>
            </a:r>
            <a:r>
              <a:rPr lang="es-US" dirty="0">
                <a:hlinkClick r:id="rId3"/>
              </a:rPr>
              <a:t>http://localhost:8080/api/student/all</a:t>
            </a:r>
            <a:r>
              <a:rPr lang="es-US" dirty="0"/>
              <a:t>, que devuelve una lista JSON de estudiantes.</a:t>
            </a:r>
          </a:p>
        </p:txBody>
      </p:sp>
      <p:pic>
        <p:nvPicPr>
          <p:cNvPr id="6" name="Imagen 5">
            <a:extLst>
              <a:ext uri="{FF2B5EF4-FFF2-40B4-BE49-F238E27FC236}">
                <a16:creationId xmlns:a16="http://schemas.microsoft.com/office/drawing/2014/main" id="{D2610E43-66B6-EAB5-AC21-30B206FEBEF5}"/>
              </a:ext>
            </a:extLst>
          </p:cNvPr>
          <p:cNvPicPr>
            <a:picLocks noChangeAspect="1"/>
          </p:cNvPicPr>
          <p:nvPr/>
        </p:nvPicPr>
        <p:blipFill>
          <a:blip r:embed="rId4"/>
          <a:srcRect b="5580"/>
          <a:stretch>
            <a:fillRect/>
          </a:stretch>
        </p:blipFill>
        <p:spPr>
          <a:xfrm>
            <a:off x="5512588" y="3298884"/>
            <a:ext cx="6096888" cy="3238120"/>
          </a:xfrm>
          <a:prstGeom prst="rect">
            <a:avLst/>
          </a:prstGeom>
        </p:spPr>
      </p:pic>
    </p:spTree>
    <p:extLst>
      <p:ext uri="{BB962C8B-B14F-4D97-AF65-F5344CB8AC3E}">
        <p14:creationId xmlns:p14="http://schemas.microsoft.com/office/powerpoint/2010/main" val="4157754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1B11EC3-F1A7-854B-31D1-3816524E0D4B}"/>
              </a:ext>
            </a:extLst>
          </p:cNvPr>
          <p:cNvSpPr>
            <a:spLocks noGrp="1"/>
          </p:cNvSpPr>
          <p:nvPr>
            <p:ph sz="quarter" idx="13"/>
          </p:nvPr>
        </p:nvSpPr>
        <p:spPr>
          <a:xfrm>
            <a:off x="300976" y="333317"/>
            <a:ext cx="5306722" cy="3424107"/>
          </a:xfrm>
        </p:spPr>
        <p:txBody>
          <a:bodyPr/>
          <a:lstStyle/>
          <a:p>
            <a:pPr marL="0" indent="0" algn="just">
              <a:buNone/>
            </a:pPr>
            <a:r>
              <a:rPr lang="es-US" dirty="0"/>
              <a:t>10. GET para los cursos (/api/</a:t>
            </a:r>
            <a:r>
              <a:rPr lang="es-US" dirty="0" err="1"/>
              <a:t>course</a:t>
            </a:r>
            <a:r>
              <a:rPr lang="es-US" dirty="0"/>
              <a:t>/</a:t>
            </a:r>
            <a:r>
              <a:rPr lang="es-US" dirty="0" err="1"/>
              <a:t>all</a:t>
            </a:r>
            <a:r>
              <a:rPr lang="es-US" dirty="0"/>
              <a:t>). Tienes una lista sólida con Matemáticas, Física, Historia, Literatura y Biología, todos con su respectivo profesor.</a:t>
            </a:r>
          </a:p>
        </p:txBody>
      </p:sp>
      <p:pic>
        <p:nvPicPr>
          <p:cNvPr id="6" name="Imagen 5">
            <a:extLst>
              <a:ext uri="{FF2B5EF4-FFF2-40B4-BE49-F238E27FC236}">
                <a16:creationId xmlns:a16="http://schemas.microsoft.com/office/drawing/2014/main" id="{8C24A773-2120-982C-5E6E-67AAABD316C4}"/>
              </a:ext>
            </a:extLst>
          </p:cNvPr>
          <p:cNvPicPr>
            <a:picLocks noChangeAspect="1"/>
          </p:cNvPicPr>
          <p:nvPr/>
        </p:nvPicPr>
        <p:blipFill>
          <a:blip r:embed="rId2"/>
          <a:srcRect r="19747" b="4430"/>
          <a:stretch>
            <a:fillRect/>
          </a:stretch>
        </p:blipFill>
        <p:spPr>
          <a:xfrm>
            <a:off x="544314" y="2247811"/>
            <a:ext cx="4890931" cy="3276245"/>
          </a:xfrm>
          <a:prstGeom prst="rect">
            <a:avLst/>
          </a:prstGeom>
        </p:spPr>
      </p:pic>
      <p:sp>
        <p:nvSpPr>
          <p:cNvPr id="8" name="Marcador de contenido 2">
            <a:extLst>
              <a:ext uri="{FF2B5EF4-FFF2-40B4-BE49-F238E27FC236}">
                <a16:creationId xmlns:a16="http://schemas.microsoft.com/office/drawing/2014/main" id="{34F83B69-9B0A-AA6D-51FF-373C98B2CDD8}"/>
              </a:ext>
            </a:extLst>
          </p:cNvPr>
          <p:cNvSpPr txBox="1">
            <a:spLocks/>
          </p:cNvSpPr>
          <p:nvPr/>
        </p:nvSpPr>
        <p:spPr>
          <a:xfrm>
            <a:off x="6323795" y="333317"/>
            <a:ext cx="5656711"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dirty="0"/>
              <a:t>11. El código de estado 201 </a:t>
            </a:r>
            <a:r>
              <a:rPr lang="es-US" dirty="0" err="1"/>
              <a:t>Created</a:t>
            </a:r>
            <a:r>
              <a:rPr lang="es-US" dirty="0"/>
              <a:t> confirma que el servidor recibió los datos de “</a:t>
            </a:r>
            <a:r>
              <a:rPr lang="es-US" dirty="0" err="1"/>
              <a:t>Angel</a:t>
            </a:r>
            <a:r>
              <a:rPr lang="es-US" dirty="0"/>
              <a:t> Ortiz” y los guardó correctamente en la base de datos.</a:t>
            </a:r>
          </a:p>
        </p:txBody>
      </p:sp>
      <p:pic>
        <p:nvPicPr>
          <p:cNvPr id="11" name="Imagen 10">
            <a:extLst>
              <a:ext uri="{FF2B5EF4-FFF2-40B4-BE49-F238E27FC236}">
                <a16:creationId xmlns:a16="http://schemas.microsoft.com/office/drawing/2014/main" id="{BB36CE05-97DA-B9D0-413E-C525A5661521}"/>
              </a:ext>
            </a:extLst>
          </p:cNvPr>
          <p:cNvPicPr>
            <a:picLocks noChangeAspect="1"/>
          </p:cNvPicPr>
          <p:nvPr/>
        </p:nvPicPr>
        <p:blipFill>
          <a:blip r:embed="rId3"/>
          <a:srcRect l="10596" b="28005"/>
          <a:stretch>
            <a:fillRect/>
          </a:stretch>
        </p:blipFill>
        <p:spPr>
          <a:xfrm>
            <a:off x="6265180" y="1785993"/>
            <a:ext cx="5448665" cy="2468063"/>
          </a:xfrm>
          <a:prstGeom prst="rect">
            <a:avLst/>
          </a:prstGeom>
        </p:spPr>
      </p:pic>
    </p:spTree>
    <p:extLst>
      <p:ext uri="{BB962C8B-B14F-4D97-AF65-F5344CB8AC3E}">
        <p14:creationId xmlns:p14="http://schemas.microsoft.com/office/powerpoint/2010/main" val="406609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2735267-D882-326F-7CF1-68EEF6C5F6BF}"/>
              </a:ext>
            </a:extLst>
          </p:cNvPr>
          <p:cNvSpPr>
            <a:spLocks noGrp="1"/>
          </p:cNvSpPr>
          <p:nvPr>
            <p:ph sz="quarter" idx="13"/>
          </p:nvPr>
        </p:nvSpPr>
        <p:spPr>
          <a:xfrm>
            <a:off x="275315" y="226741"/>
            <a:ext cx="5017832" cy="3424107"/>
          </a:xfrm>
        </p:spPr>
        <p:txBody>
          <a:bodyPr/>
          <a:lstStyle/>
          <a:p>
            <a:pPr marL="0" indent="0" algn="just">
              <a:buNone/>
            </a:pPr>
            <a:r>
              <a:rPr lang="es-US" dirty="0"/>
              <a:t>12. Ahí aparece </a:t>
            </a:r>
            <a:r>
              <a:rPr lang="es-US" dirty="0" err="1"/>
              <a:t>Angel</a:t>
            </a:r>
            <a:r>
              <a:rPr lang="es-US" dirty="0"/>
              <a:t> Ortiz con el ID 6 al final de tu lista. Con esto has verificado visualmente que tu operación de “</a:t>
            </a:r>
            <a:r>
              <a:rPr lang="es-US" dirty="0" err="1"/>
              <a:t>Create</a:t>
            </a:r>
            <a:r>
              <a:rPr lang="es-US" dirty="0"/>
              <a:t>” (POST) impactó correctamente en la base de datos y que tu operación de “</a:t>
            </a:r>
            <a:r>
              <a:rPr lang="es-US" dirty="0" err="1"/>
              <a:t>Read</a:t>
            </a:r>
            <a:r>
              <a:rPr lang="es-US" dirty="0"/>
              <a:t>” (GET) está recuperando los datos actualizados.</a:t>
            </a:r>
          </a:p>
        </p:txBody>
      </p:sp>
      <p:pic>
        <p:nvPicPr>
          <p:cNvPr id="6" name="Imagen 5">
            <a:extLst>
              <a:ext uri="{FF2B5EF4-FFF2-40B4-BE49-F238E27FC236}">
                <a16:creationId xmlns:a16="http://schemas.microsoft.com/office/drawing/2014/main" id="{A918CCCF-55DF-B484-901B-D4FA2831C071}"/>
              </a:ext>
            </a:extLst>
          </p:cNvPr>
          <p:cNvPicPr>
            <a:picLocks noChangeAspect="1"/>
          </p:cNvPicPr>
          <p:nvPr/>
        </p:nvPicPr>
        <p:blipFill>
          <a:blip r:embed="rId2"/>
          <a:srcRect l="13802" r="3863" b="2357"/>
          <a:stretch>
            <a:fillRect/>
          </a:stretch>
        </p:blipFill>
        <p:spPr>
          <a:xfrm>
            <a:off x="159861" y="3011587"/>
            <a:ext cx="5017832" cy="3347294"/>
          </a:xfrm>
          <a:prstGeom prst="rect">
            <a:avLst/>
          </a:prstGeom>
        </p:spPr>
      </p:pic>
      <p:sp>
        <p:nvSpPr>
          <p:cNvPr id="8" name="Marcador de contenido 2">
            <a:extLst>
              <a:ext uri="{FF2B5EF4-FFF2-40B4-BE49-F238E27FC236}">
                <a16:creationId xmlns:a16="http://schemas.microsoft.com/office/drawing/2014/main" id="{E5B6EA1C-043E-848F-B945-E23AD3D73307}"/>
              </a:ext>
            </a:extLst>
          </p:cNvPr>
          <p:cNvSpPr txBox="1">
            <a:spLocks/>
          </p:cNvSpPr>
          <p:nvPr/>
        </p:nvSpPr>
        <p:spPr>
          <a:xfrm>
            <a:off x="6413589" y="226741"/>
            <a:ext cx="5017832"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dirty="0"/>
              <a:t> 13. Al consultar el </a:t>
            </a:r>
            <a:r>
              <a:rPr lang="es-US" dirty="0" err="1"/>
              <a:t>endpoint</a:t>
            </a:r>
            <a:r>
              <a:rPr lang="es-US" dirty="0"/>
              <a:t> /api/</a:t>
            </a:r>
            <a:r>
              <a:rPr lang="es-US" dirty="0" err="1"/>
              <a:t>student</a:t>
            </a:r>
            <a:r>
              <a:rPr lang="es-US" dirty="0"/>
              <a:t>/</a:t>
            </a:r>
            <a:r>
              <a:rPr lang="es-US" dirty="0" err="1"/>
              <a:t>search-by-course</a:t>
            </a:r>
            <a:r>
              <a:rPr lang="es-US" dirty="0"/>
              <a:t>/2, acabas de confirmar que </a:t>
            </a:r>
            <a:r>
              <a:rPr lang="es-US" dirty="0" err="1"/>
              <a:t>Angel</a:t>
            </a:r>
            <a:r>
              <a:rPr lang="es-US" dirty="0"/>
              <a:t> (ID 6), que creaste hace un momento, ya aparece vinculado a ese curso junto a María.</a:t>
            </a:r>
          </a:p>
        </p:txBody>
      </p:sp>
      <p:pic>
        <p:nvPicPr>
          <p:cNvPr id="11" name="Imagen 10">
            <a:extLst>
              <a:ext uri="{FF2B5EF4-FFF2-40B4-BE49-F238E27FC236}">
                <a16:creationId xmlns:a16="http://schemas.microsoft.com/office/drawing/2014/main" id="{10C2EDA2-A1D1-881C-234B-67DA8310089D}"/>
              </a:ext>
            </a:extLst>
          </p:cNvPr>
          <p:cNvPicPr>
            <a:picLocks noChangeAspect="1"/>
          </p:cNvPicPr>
          <p:nvPr/>
        </p:nvPicPr>
        <p:blipFill>
          <a:blip r:embed="rId3"/>
          <a:srcRect r="9256"/>
          <a:stretch>
            <a:fillRect/>
          </a:stretch>
        </p:blipFill>
        <p:spPr>
          <a:xfrm>
            <a:off x="5901049" y="2549770"/>
            <a:ext cx="5530372" cy="3428112"/>
          </a:xfrm>
          <a:prstGeom prst="rect">
            <a:avLst/>
          </a:prstGeom>
        </p:spPr>
      </p:pic>
    </p:spTree>
    <p:extLst>
      <p:ext uri="{BB962C8B-B14F-4D97-AF65-F5344CB8AC3E}">
        <p14:creationId xmlns:p14="http://schemas.microsoft.com/office/powerpoint/2010/main" val="1415433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9E7DDAC-365A-E42F-90DA-7A5CFDDAFD0A}"/>
              </a:ext>
            </a:extLst>
          </p:cNvPr>
          <p:cNvSpPr>
            <a:spLocks noGrp="1"/>
          </p:cNvSpPr>
          <p:nvPr>
            <p:ph sz="quarter" idx="13"/>
          </p:nvPr>
        </p:nvSpPr>
        <p:spPr>
          <a:xfrm>
            <a:off x="363145" y="359959"/>
            <a:ext cx="5658254" cy="3424107"/>
          </a:xfrm>
        </p:spPr>
        <p:txBody>
          <a:bodyPr/>
          <a:lstStyle/>
          <a:p>
            <a:pPr marL="0" indent="0" algn="just">
              <a:buNone/>
            </a:pPr>
            <a:r>
              <a:rPr lang="es-US" dirty="0"/>
              <a:t>14. Has creado el curso de “</a:t>
            </a:r>
            <a:r>
              <a:rPr lang="es-US" dirty="0" err="1"/>
              <a:t>programacion</a:t>
            </a:r>
            <a:r>
              <a:rPr lang="es-US" dirty="0"/>
              <a:t> web” y el servidor te ha respondido con un 201 </a:t>
            </a:r>
            <a:r>
              <a:rPr lang="es-US" dirty="0" err="1"/>
              <a:t>Created</a:t>
            </a:r>
            <a:r>
              <a:rPr lang="es-US" dirty="0"/>
              <a:t>.</a:t>
            </a:r>
          </a:p>
        </p:txBody>
      </p:sp>
      <p:pic>
        <p:nvPicPr>
          <p:cNvPr id="6" name="Imagen 5">
            <a:extLst>
              <a:ext uri="{FF2B5EF4-FFF2-40B4-BE49-F238E27FC236}">
                <a16:creationId xmlns:a16="http://schemas.microsoft.com/office/drawing/2014/main" id="{6D4C581F-FA2F-D11E-3778-DF4F2E44CA2D}"/>
              </a:ext>
            </a:extLst>
          </p:cNvPr>
          <p:cNvPicPr>
            <a:picLocks noChangeAspect="1"/>
          </p:cNvPicPr>
          <p:nvPr/>
        </p:nvPicPr>
        <p:blipFill>
          <a:blip r:embed="rId2"/>
          <a:srcRect r="19106"/>
          <a:stretch>
            <a:fillRect/>
          </a:stretch>
        </p:blipFill>
        <p:spPr>
          <a:xfrm>
            <a:off x="363146" y="1714944"/>
            <a:ext cx="4930002" cy="3428112"/>
          </a:xfrm>
          <a:prstGeom prst="rect">
            <a:avLst/>
          </a:prstGeom>
        </p:spPr>
      </p:pic>
      <p:sp>
        <p:nvSpPr>
          <p:cNvPr id="8" name="Marcador de contenido 2">
            <a:extLst>
              <a:ext uri="{FF2B5EF4-FFF2-40B4-BE49-F238E27FC236}">
                <a16:creationId xmlns:a16="http://schemas.microsoft.com/office/drawing/2014/main" id="{D68076B4-9F30-F57D-33EF-6217359370A6}"/>
              </a:ext>
            </a:extLst>
          </p:cNvPr>
          <p:cNvSpPr txBox="1">
            <a:spLocks/>
          </p:cNvSpPr>
          <p:nvPr/>
        </p:nvSpPr>
        <p:spPr>
          <a:xfrm>
            <a:off x="6323797" y="359958"/>
            <a:ext cx="5658254"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Font typeface="Arial" panose="020B0604020202020204" pitchFamily="34" charset="0"/>
              <a:buNone/>
            </a:pPr>
            <a:r>
              <a:rPr lang="es-US" dirty="0"/>
              <a:t>15. Ahí lo tienes: el ID 6 corresponde a “</a:t>
            </a:r>
            <a:r>
              <a:rPr lang="es-US" dirty="0" err="1"/>
              <a:t>programacion</a:t>
            </a:r>
            <a:r>
              <a:rPr lang="es-US" dirty="0"/>
              <a:t> web” con el “Profesor A”.</a:t>
            </a:r>
          </a:p>
        </p:txBody>
      </p:sp>
      <p:pic>
        <p:nvPicPr>
          <p:cNvPr id="11" name="Imagen 10">
            <a:extLst>
              <a:ext uri="{FF2B5EF4-FFF2-40B4-BE49-F238E27FC236}">
                <a16:creationId xmlns:a16="http://schemas.microsoft.com/office/drawing/2014/main" id="{89C9907E-FB20-D1FD-F150-A83D29F626D6}"/>
              </a:ext>
            </a:extLst>
          </p:cNvPr>
          <p:cNvPicPr>
            <a:picLocks noChangeAspect="1"/>
          </p:cNvPicPr>
          <p:nvPr/>
        </p:nvPicPr>
        <p:blipFill>
          <a:blip r:embed="rId3"/>
          <a:srcRect r="14939"/>
          <a:stretch>
            <a:fillRect/>
          </a:stretch>
        </p:blipFill>
        <p:spPr>
          <a:xfrm>
            <a:off x="6096000" y="1608370"/>
            <a:ext cx="5184008" cy="3428112"/>
          </a:xfrm>
          <a:prstGeom prst="rect">
            <a:avLst/>
          </a:prstGeom>
        </p:spPr>
      </p:pic>
    </p:spTree>
    <p:extLst>
      <p:ext uri="{BB962C8B-B14F-4D97-AF65-F5344CB8AC3E}">
        <p14:creationId xmlns:p14="http://schemas.microsoft.com/office/powerpoint/2010/main" val="2973405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96C5FDE-4F78-4686-4458-3261831BC33D}"/>
              </a:ext>
            </a:extLst>
          </p:cNvPr>
          <p:cNvSpPr>
            <a:spLocks noGrp="1"/>
          </p:cNvSpPr>
          <p:nvPr>
            <p:ph sz="quarter" idx="13"/>
          </p:nvPr>
        </p:nvSpPr>
        <p:spPr>
          <a:xfrm>
            <a:off x="914087" y="439889"/>
            <a:ext cx="10363826" cy="3424107"/>
          </a:xfrm>
        </p:spPr>
        <p:txBody>
          <a:bodyPr/>
          <a:lstStyle/>
          <a:p>
            <a:pPr marL="0" indent="0" algn="just">
              <a:buNone/>
            </a:pPr>
            <a:r>
              <a:rPr lang="es-US" dirty="0"/>
              <a:t>16. Después de crear al alumno, si vuelves a llamar al </a:t>
            </a:r>
            <a:r>
              <a:rPr lang="es-US" dirty="0" err="1"/>
              <a:t>endpoint</a:t>
            </a:r>
            <a:r>
              <a:rPr lang="es-US" dirty="0"/>
              <a:t> que vimos antes (/api/</a:t>
            </a:r>
            <a:r>
              <a:rPr lang="es-US" dirty="0" err="1"/>
              <a:t>course</a:t>
            </a:r>
            <a:r>
              <a:rPr lang="es-US" dirty="0"/>
              <a:t>/</a:t>
            </a:r>
            <a:r>
              <a:rPr lang="es-US" dirty="0" err="1"/>
              <a:t>search-student</a:t>
            </a:r>
            <a:r>
              <a:rPr lang="es-US" dirty="0"/>
              <a:t>/6), verás que el campo </a:t>
            </a:r>
            <a:r>
              <a:rPr lang="es-US" dirty="0" err="1"/>
              <a:t>studentDTOList</a:t>
            </a:r>
            <a:r>
              <a:rPr lang="es-US" dirty="0"/>
              <a:t> ya no estará vacío, sino que mostrará los datos del alumno que acabas de inscribir. Con esto has validado el flujo completo de “Crear y Consultar” para la entidad de cursos. Ahora que tienes este ID identificado, tu base de datos está lista para pruebas de relación más complejas.</a:t>
            </a:r>
          </a:p>
        </p:txBody>
      </p:sp>
      <p:pic>
        <p:nvPicPr>
          <p:cNvPr id="6" name="Imagen 5">
            <a:extLst>
              <a:ext uri="{FF2B5EF4-FFF2-40B4-BE49-F238E27FC236}">
                <a16:creationId xmlns:a16="http://schemas.microsoft.com/office/drawing/2014/main" id="{39B4ED97-941A-7A6C-5E99-61F207D49F57}"/>
              </a:ext>
            </a:extLst>
          </p:cNvPr>
          <p:cNvPicPr>
            <a:picLocks noChangeAspect="1"/>
          </p:cNvPicPr>
          <p:nvPr/>
        </p:nvPicPr>
        <p:blipFill>
          <a:blip r:embed="rId2"/>
          <a:srcRect b="2875"/>
          <a:stretch>
            <a:fillRect/>
          </a:stretch>
        </p:blipFill>
        <p:spPr>
          <a:xfrm>
            <a:off x="2462635" y="2771797"/>
            <a:ext cx="6094421" cy="3329532"/>
          </a:xfrm>
          <a:prstGeom prst="rect">
            <a:avLst/>
          </a:prstGeom>
        </p:spPr>
      </p:pic>
    </p:spTree>
    <p:extLst>
      <p:ext uri="{BB962C8B-B14F-4D97-AF65-F5344CB8AC3E}">
        <p14:creationId xmlns:p14="http://schemas.microsoft.com/office/powerpoint/2010/main" val="3654146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336931"/>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1109158" y="1555264"/>
            <a:ext cx="10363826" cy="3424107"/>
          </a:xfrm>
        </p:spPr>
        <p:txBody>
          <a:bodyPr>
            <a:normAutofit lnSpcReduction="10000"/>
          </a:bodyPr>
          <a:lstStyle/>
          <a:p>
            <a:pPr marL="0" indent="0" algn="just">
              <a:buNone/>
            </a:pPr>
            <a:r>
              <a:rPr lang="es-US" dirty="0"/>
              <a:t>Como conclusión puedo decir sobre el sistema de microservicios opera de manera estable y eficiente. ​Se verificó visualmente que la operación de creación (POST) impacta exitosamente la base de datos, permitiendo que la operación de lectura (GET) recupere información actualizada en tiempo real. Se validó el flujo completo de “Crear y Consultar”, demostrando que los nuevos estudiantes aparecen correctamente vinculados a sus respectivos cursos en los campos </a:t>
            </a:r>
            <a:r>
              <a:rPr lang="es-US" dirty="0" err="1"/>
              <a:t>studentDTOList</a:t>
            </a:r>
            <a:r>
              <a:rPr lang="es-US" dirty="0"/>
              <a:t>. Con los </a:t>
            </a:r>
            <a:r>
              <a:rPr lang="es-US" dirty="0" err="1"/>
              <a:t>Ids</a:t>
            </a:r>
            <a:r>
              <a:rPr lang="es-US" dirty="0"/>
              <a:t> correctamente identificados y los </a:t>
            </a:r>
            <a:r>
              <a:rPr lang="es-US" dirty="0" err="1"/>
              <a:t>endpoints</a:t>
            </a:r>
            <a:r>
              <a:rPr lang="es-US" dirty="0"/>
              <a:t> de búsqueda funcionando (como la lista de materias: Matemáticas, Física, Historia, etc.), la base de datos y la API quedan preparadas para pruebas de integración y relaciones de mayor complejidad en el futuro. </a:t>
            </a:r>
          </a:p>
        </p:txBody>
      </p:sp>
    </p:spTree>
    <p:extLst>
      <p:ext uri="{BB962C8B-B14F-4D97-AF65-F5344CB8AC3E}">
        <p14:creationId xmlns:p14="http://schemas.microsoft.com/office/powerpoint/2010/main" val="2345241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0972137-C4D6-9493-4D3D-0637B94D7945}"/>
              </a:ext>
            </a:extLst>
          </p:cNvPr>
          <p:cNvSpPr>
            <a:spLocks noGrp="1"/>
          </p:cNvSpPr>
          <p:nvPr>
            <p:ph sz="quarter" idx="13"/>
          </p:nvPr>
        </p:nvSpPr>
        <p:spPr>
          <a:xfrm>
            <a:off x="914087" y="538292"/>
            <a:ext cx="10363826" cy="3424107"/>
          </a:xfrm>
        </p:spPr>
        <p:txBody>
          <a:bodyPr>
            <a:normAutofit/>
          </a:bodyPr>
          <a:lstStyle/>
          <a:p>
            <a:pPr marL="0" indent="0">
              <a:buNone/>
            </a:pPr>
            <a:r>
              <a:rPr lang="es-MX" sz="1700" dirty="0"/>
              <a:t>Link de </a:t>
            </a:r>
            <a:r>
              <a:rPr lang="es-MX" sz="1700" dirty="0" err="1"/>
              <a:t>Github</a:t>
            </a:r>
            <a:r>
              <a:rPr lang="es-MX" sz="1700" dirty="0"/>
              <a:t>:</a:t>
            </a:r>
          </a:p>
        </p:txBody>
      </p:sp>
    </p:spTree>
    <p:extLst>
      <p:ext uri="{BB962C8B-B14F-4D97-AF65-F5344CB8AC3E}">
        <p14:creationId xmlns:p14="http://schemas.microsoft.com/office/powerpoint/2010/main" val="1934898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822</TotalTime>
  <Words>960</Words>
  <Application>Microsoft Office PowerPoint</Application>
  <PresentationFormat>Panorámica</PresentationFormat>
  <Paragraphs>56</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Bookman Old Style</vt:lpstr>
      <vt:lpstr>Rockwell</vt:lpstr>
      <vt:lpstr>Damask</vt:lpstr>
      <vt:lpstr>Instituto tecnológico de nacional de México  (instituto tecnológico de frontera Comalapa) </vt:lpstr>
      <vt:lpstr>Introducción </vt:lpstr>
      <vt:lpstr>JUSTIFICACIÓN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HP-INTEL7</cp:lastModifiedBy>
  <cp:revision>155</cp:revision>
  <dcterms:created xsi:type="dcterms:W3CDTF">2024-03-08T16:42:11Z</dcterms:created>
  <dcterms:modified xsi:type="dcterms:W3CDTF">2026-05-11T00:37:56Z</dcterms:modified>
</cp:coreProperties>
</file>