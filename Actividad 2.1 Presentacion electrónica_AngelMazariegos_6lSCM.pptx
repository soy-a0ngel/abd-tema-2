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43" r:id="rId1"/>
  </p:sldMasterIdLst>
  <p:sldIdLst>
    <p:sldId id="256" r:id="rId2"/>
    <p:sldId id="257" r:id="rId3"/>
    <p:sldId id="290" r:id="rId4"/>
    <p:sldId id="291" r:id="rId5"/>
    <p:sldId id="297" r:id="rId6"/>
    <p:sldId id="292" r:id="rId7"/>
    <p:sldId id="293" r:id="rId8"/>
    <p:sldId id="295" r:id="rId9"/>
    <p:sldId id="266" r:id="rId10"/>
    <p:sldId id="29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59" autoAdjust="0"/>
    <p:restoredTop sz="94660"/>
  </p:normalViewPr>
  <p:slideViewPr>
    <p:cSldViewPr snapToGrid="0">
      <p:cViewPr varScale="1">
        <p:scale>
          <a:sx n="82" d="100"/>
          <a:sy n="82" d="100"/>
        </p:scale>
        <p:origin x="53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4019517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4099432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8A87A34-81AB-432B-8DAE-1953F412C126}" type="datetimeFigureOut">
              <a:rPr lang="en-US" smtClean="0"/>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187928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5/1/2026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618163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913795" y="2912232"/>
            <a:ext cx="5107208" cy="287896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912232"/>
            <a:ext cx="5095357" cy="287896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5/1/2026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912398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715955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5/1/2026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539049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5/1/2026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1093092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t>5/1/2026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886496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5/1/2026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408719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5/1/2026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2993093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5/1/2026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0954677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5/1/2026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9574971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smtClean="0"/>
              <a:pPr/>
              <a:t>5/1/2026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9619855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smtClean="0"/>
              <a:pPr/>
              <a:t>5/1/2026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3004334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9740372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2762688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90374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smtClean="0"/>
              <a:pPr/>
              <a:t>5/1/2026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064668593"/>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46" r:id="rId3"/>
    <p:sldLayoutId id="2147483947" r:id="rId4"/>
    <p:sldLayoutId id="2147483948" r:id="rId5"/>
    <p:sldLayoutId id="2147483949" r:id="rId6"/>
    <p:sldLayoutId id="2147483950" r:id="rId7"/>
    <p:sldLayoutId id="2147483951" r:id="rId8"/>
    <p:sldLayoutId id="2147483952" r:id="rId9"/>
    <p:sldLayoutId id="2147483953" r:id="rId10"/>
    <p:sldLayoutId id="2147483954" r:id="rId11"/>
    <p:sldLayoutId id="2147483955" r:id="rId12"/>
    <p:sldLayoutId id="2147483956" r:id="rId13"/>
    <p:sldLayoutId id="2147483957" r:id="rId14"/>
    <p:sldLayoutId id="2147483958" r:id="rId15"/>
    <p:sldLayoutId id="2147483959" r:id="rId16"/>
    <p:sldLayoutId id="2147483960" r:id="rId17"/>
    <p:sldLayoutId id="2147483961" r:id="rId18"/>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8.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hyperlink" Target="https://share.google/W9DgiNLxj9JHaiJkl" TargetMode="External"/><Relationship Id="rId2" Type="http://schemas.openxmlformats.org/officeDocument/2006/relationships/hyperlink" Target="https://share.google/uoYAifyR8ULJ2zEiC" TargetMode="External"/><Relationship Id="rId1" Type="http://schemas.openxmlformats.org/officeDocument/2006/relationships/slideLayout" Target="../slideLayouts/slideLayout18.xml"/><Relationship Id="rId5" Type="http://schemas.openxmlformats.org/officeDocument/2006/relationships/hyperlink" Target="http://victoralfonsolopez73.blogspot.com/2017/03/unidad-2.html" TargetMode="External"/><Relationship Id="rId4" Type="http://schemas.openxmlformats.org/officeDocument/2006/relationships/hyperlink" Target="https://share.google/mColU5wIZ3KMAsq8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13722" y="1834632"/>
            <a:ext cx="10743834" cy="1027386"/>
          </a:xfrm>
        </p:spPr>
        <p:txBody>
          <a:bodyPr>
            <a:normAutofit fontScale="90000"/>
          </a:bodyPr>
          <a:lstStyle/>
          <a:p>
            <a:pPr algn="ctr"/>
            <a:r>
              <a:rPr lang="es-MX" sz="3600" b="1" dirty="0"/>
              <a:t>Instituto tecnológico de nacional de México </a:t>
            </a:r>
            <a:br>
              <a:rPr lang="es-MX" sz="3600" b="1" dirty="0"/>
            </a:br>
            <a:r>
              <a:rPr lang="es-MX" sz="2000" b="1" dirty="0"/>
              <a:t>(instituto tecnológico de frontera Comalapa) </a:t>
            </a:r>
            <a:endParaRPr lang="es-MX" sz="3600" b="1"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0488" y="128946"/>
            <a:ext cx="3610303" cy="1482523"/>
          </a:xfrm>
          <a:prstGeom prst="rect">
            <a:avLst/>
          </a:prstGeom>
        </p:spPr>
      </p:pic>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63" y="-68067"/>
            <a:ext cx="3941380" cy="1876551"/>
          </a:xfrm>
          <a:prstGeom prst="rect">
            <a:avLst/>
          </a:prstGeom>
        </p:spPr>
      </p:pic>
      <p:sp>
        <p:nvSpPr>
          <p:cNvPr id="8" name="Título 1"/>
          <p:cNvSpPr txBox="1">
            <a:spLocks/>
          </p:cNvSpPr>
          <p:nvPr/>
        </p:nvSpPr>
        <p:spPr>
          <a:xfrm>
            <a:off x="820324" y="2862018"/>
            <a:ext cx="10330629" cy="4273801"/>
          </a:xfrm>
          <a:prstGeom prst="rect">
            <a:avLst/>
          </a:prstGeom>
        </p:spPr>
        <p:txBody>
          <a:bodyPr vert="horz" lIns="91440" tIns="45720" rIns="91440" bIns="45720" rtlCol="0" anchor="b">
            <a:normAutofit fontScale="8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r>
              <a:rPr lang="es-MX" sz="2900" b="1" dirty="0"/>
              <a:t>Presentación</a:t>
            </a:r>
          </a:p>
          <a:p>
            <a:endParaRPr lang="es-MX" sz="2900" b="1" dirty="0"/>
          </a:p>
          <a:p>
            <a:r>
              <a:rPr lang="es-MX" sz="2000" b="1" dirty="0"/>
              <a:t>Nombre del estudiante: </a:t>
            </a:r>
          </a:p>
          <a:p>
            <a:r>
              <a:rPr lang="es-MX" sz="2000" cap="none" dirty="0" err="1"/>
              <a:t>Angel</a:t>
            </a:r>
            <a:r>
              <a:rPr lang="es-MX" sz="2000" cap="none" dirty="0"/>
              <a:t> De </a:t>
            </a:r>
            <a:r>
              <a:rPr lang="es-MX" sz="2000" cap="none" dirty="0" err="1"/>
              <a:t>Jesus</a:t>
            </a:r>
            <a:r>
              <a:rPr lang="es-MX" sz="2000" cap="none" dirty="0"/>
              <a:t> Mazariegos Ortiz</a:t>
            </a:r>
          </a:p>
          <a:p>
            <a:endParaRPr lang="es-MX" sz="2000" cap="none" dirty="0"/>
          </a:p>
          <a:p>
            <a:r>
              <a:rPr lang="es-MX" sz="2000" b="1" dirty="0"/>
              <a:t>no. Control:</a:t>
            </a:r>
          </a:p>
          <a:p>
            <a:r>
              <a:rPr lang="es-MX" sz="2000" dirty="0"/>
              <a:t>231260003</a:t>
            </a:r>
          </a:p>
          <a:p>
            <a:endParaRPr lang="es-MX" sz="2000" dirty="0"/>
          </a:p>
          <a:p>
            <a:r>
              <a:rPr lang="es-MX" sz="2000" b="1" cap="none" dirty="0"/>
              <a:t>MATERIA:</a:t>
            </a:r>
          </a:p>
          <a:p>
            <a:r>
              <a:rPr lang="es-US" sz="2000" cap="none" dirty="0"/>
              <a:t>Administración de Base de Datos</a:t>
            </a:r>
            <a:endParaRPr lang="es-MX" sz="2000" cap="none" dirty="0"/>
          </a:p>
          <a:p>
            <a:endParaRPr lang="es-MX" sz="2000" dirty="0"/>
          </a:p>
          <a:p>
            <a:r>
              <a:rPr lang="es-MX" sz="2000" b="1" dirty="0"/>
              <a:t>Nombre del docente:</a:t>
            </a:r>
          </a:p>
          <a:p>
            <a:r>
              <a:rPr lang="es-MX" sz="2000" cap="none" dirty="0"/>
              <a:t>Francisco Javier Velázquez Mingo</a:t>
            </a:r>
          </a:p>
          <a:p>
            <a:endParaRPr lang="es-MX" sz="2000" dirty="0"/>
          </a:p>
          <a:p>
            <a:r>
              <a:rPr lang="es-MX" sz="2000" b="1" dirty="0"/>
              <a:t>Semestre:</a:t>
            </a:r>
            <a:endParaRPr lang="es-MX" sz="2000" b="1" cap="none" dirty="0"/>
          </a:p>
          <a:p>
            <a:r>
              <a:rPr lang="es-US" sz="2000" cap="none" dirty="0"/>
              <a:t>Sexto </a:t>
            </a:r>
            <a:r>
              <a:rPr lang="es-MX" sz="2000" cap="none" dirty="0"/>
              <a:t>Semestre </a:t>
            </a:r>
          </a:p>
          <a:p>
            <a:endParaRPr lang="es-MX" sz="2000" dirty="0"/>
          </a:p>
          <a:p>
            <a:r>
              <a:rPr lang="es-MX" sz="2000" b="1" dirty="0"/>
              <a:t>Fecha:</a:t>
            </a:r>
          </a:p>
          <a:p>
            <a:r>
              <a:rPr lang="es-US" sz="2000" dirty="0"/>
              <a:t>26/04/2026</a:t>
            </a:r>
            <a:endParaRPr lang="es-MX" sz="2000" dirty="0"/>
          </a:p>
          <a:p>
            <a:endParaRPr lang="es-MX" sz="2100" dirty="0"/>
          </a:p>
          <a:p>
            <a:r>
              <a:rPr lang="es-MX" sz="3600" dirty="0"/>
              <a:t> </a:t>
            </a:r>
            <a:r>
              <a:rPr lang="es-MX" sz="3600" b="1" dirty="0"/>
              <a:t> </a:t>
            </a:r>
          </a:p>
        </p:txBody>
      </p:sp>
      <p:pic>
        <p:nvPicPr>
          <p:cNvPr id="7" name="Imagen 6">
            <a:extLst>
              <a:ext uri="{FF2B5EF4-FFF2-40B4-BE49-F238E27FC236}">
                <a16:creationId xmlns:a16="http://schemas.microsoft.com/office/drawing/2014/main" id="{1FA55246-EC8D-4FB4-B724-80EC97353906}"/>
              </a:ext>
            </a:extLst>
          </p:cNvPr>
          <p:cNvPicPr>
            <a:picLocks noChangeAspect="1"/>
          </p:cNvPicPr>
          <p:nvPr/>
        </p:nvPicPr>
        <p:blipFill>
          <a:blip r:embed="rId4"/>
          <a:stretch>
            <a:fillRect/>
          </a:stretch>
        </p:blipFill>
        <p:spPr>
          <a:xfrm>
            <a:off x="8313685" y="0"/>
            <a:ext cx="3116315" cy="1828800"/>
          </a:xfrm>
          <a:prstGeom prst="rect">
            <a:avLst/>
          </a:prstGeom>
        </p:spPr>
      </p:pic>
      <p:pic>
        <p:nvPicPr>
          <p:cNvPr id="9" name="Imagen 8">
            <a:extLst>
              <a:ext uri="{FF2B5EF4-FFF2-40B4-BE49-F238E27FC236}">
                <a16:creationId xmlns:a16="http://schemas.microsoft.com/office/drawing/2014/main" id="{6CA0DCF5-F42E-4506-A461-330A6B57584D}"/>
              </a:ext>
            </a:extLst>
          </p:cNvPr>
          <p:cNvPicPr>
            <a:picLocks noChangeAspect="1"/>
          </p:cNvPicPr>
          <p:nvPr/>
        </p:nvPicPr>
        <p:blipFill rotWithShape="1">
          <a:blip r:embed="rId4">
            <a:lum bright="70000" contrast="-70000"/>
          </a:blip>
          <a:srcRect t="74026"/>
          <a:stretch/>
        </p:blipFill>
        <p:spPr>
          <a:xfrm>
            <a:off x="8313685" y="1356696"/>
            <a:ext cx="3116315" cy="475020"/>
          </a:xfrm>
          <a:prstGeom prst="rect">
            <a:avLst/>
          </a:prstGeom>
        </p:spPr>
      </p:pic>
    </p:spTree>
    <p:extLst>
      <p:ext uri="{BB962C8B-B14F-4D97-AF65-F5344CB8AC3E}">
        <p14:creationId xmlns:p14="http://schemas.microsoft.com/office/powerpoint/2010/main" val="725301386"/>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83109" y="-119292"/>
            <a:ext cx="10364451" cy="1596177"/>
          </a:xfrm>
        </p:spPr>
        <p:txBody>
          <a:bodyPr/>
          <a:lstStyle/>
          <a:p>
            <a:pPr algn="ctr"/>
            <a:r>
              <a:rPr lang="es-MX" b="1" dirty="0"/>
              <a:t>Introducción </a:t>
            </a:r>
          </a:p>
        </p:txBody>
      </p:sp>
      <p:sp>
        <p:nvSpPr>
          <p:cNvPr id="3" name="Marcador de contenido 2"/>
          <p:cNvSpPr>
            <a:spLocks noGrp="1"/>
          </p:cNvSpPr>
          <p:nvPr>
            <p:ph sz="quarter" idx="13"/>
          </p:nvPr>
        </p:nvSpPr>
        <p:spPr>
          <a:xfrm>
            <a:off x="918249" y="1124519"/>
            <a:ext cx="10529311" cy="5517621"/>
          </a:xfrm>
        </p:spPr>
        <p:txBody>
          <a:bodyPr>
            <a:normAutofit/>
          </a:bodyPr>
          <a:lstStyle/>
          <a:p>
            <a:pPr marL="0" indent="0" algn="just">
              <a:buNone/>
            </a:pPr>
            <a:r>
              <a:rPr lang="es-US" dirty="0">
                <a:effectLst/>
              </a:rPr>
              <a:t>El funcionamiento óptimo de un Sistema Gestor de Base de Datos (SGBD) depende fundamentalmente de una configuración eficiente de sus estructuras de memoria y procesos. Estas estructuras deben ser diseñadas para soportar a múltiples usuarios, garantizando que se asigne el espacio necesario para mantener la integridad y disponibilidad de la información. La arquitectura de memoria se divide principalmente en áreas compartidas, como el Área Global del Sistema (SGA), y áreas privadas para cada proceso, denominadas Áreas Globales de Programas (PGA). Comprender estos componentes, junto con los requisitos </a:t>
            </a:r>
            <a:r>
              <a:rPr lang="es-US" dirty="0" err="1">
                <a:effectLst/>
              </a:rPr>
              <a:t>minimos</a:t>
            </a:r>
            <a:r>
              <a:rPr lang="es-US" dirty="0">
                <a:effectLst/>
              </a:rPr>
              <a:t> de hardware y la naturaleza transaccional del software, es un paso crítico antes de iniciar cualquier proceso de instalación o configuración técnica</a:t>
            </a:r>
            <a:endParaRPr lang="es-MX" dirty="0">
              <a:effectLst/>
            </a:endParaRPr>
          </a:p>
        </p:txBody>
      </p:sp>
    </p:spTree>
    <p:extLst>
      <p:ext uri="{BB962C8B-B14F-4D97-AF65-F5344CB8AC3E}">
        <p14:creationId xmlns:p14="http://schemas.microsoft.com/office/powerpoint/2010/main" val="1232296404"/>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96DCB7-4A5B-B10C-1BC9-2108E5E4FF8B}"/>
              </a:ext>
            </a:extLst>
          </p:cNvPr>
          <p:cNvSpPr>
            <a:spLocks noGrp="1"/>
          </p:cNvSpPr>
          <p:nvPr>
            <p:ph type="title"/>
          </p:nvPr>
        </p:nvSpPr>
        <p:spPr/>
        <p:txBody>
          <a:bodyPr/>
          <a:lstStyle/>
          <a:p>
            <a:r>
              <a:rPr lang="es-US" dirty="0"/>
              <a:t>JUSTIFICACIÓN</a:t>
            </a:r>
          </a:p>
        </p:txBody>
      </p:sp>
      <p:sp>
        <p:nvSpPr>
          <p:cNvPr id="3" name="Marcador de contenido 2">
            <a:extLst>
              <a:ext uri="{FF2B5EF4-FFF2-40B4-BE49-F238E27FC236}">
                <a16:creationId xmlns:a16="http://schemas.microsoft.com/office/drawing/2014/main" id="{AE72E3CF-E2AD-28F8-DF10-5DF1E7BEF702}"/>
              </a:ext>
            </a:extLst>
          </p:cNvPr>
          <p:cNvSpPr>
            <a:spLocks noGrp="1"/>
          </p:cNvSpPr>
          <p:nvPr>
            <p:ph sz="quarter" idx="13"/>
          </p:nvPr>
        </p:nvSpPr>
        <p:spPr>
          <a:xfrm>
            <a:off x="1029229" y="1714499"/>
            <a:ext cx="10363826" cy="4714009"/>
          </a:xfrm>
        </p:spPr>
        <p:txBody>
          <a:bodyPr>
            <a:normAutofit/>
          </a:bodyPr>
          <a:lstStyle/>
          <a:p>
            <a:pPr marL="0" indent="0" algn="just">
              <a:buNone/>
            </a:pPr>
            <a:r>
              <a:rPr lang="es-US" dirty="0"/>
              <a:t>La administración de bases de datos requiere una configuración precisa del espacio y los recursos de hardware para garantizar la funcionalidad y el rendimiento óptimo. Es crucial entender las estructuras internas, como el </a:t>
            </a:r>
            <a:r>
              <a:rPr lang="es-US" dirty="0" err="1"/>
              <a:t>Database</a:t>
            </a:r>
            <a:r>
              <a:rPr lang="es-US" dirty="0"/>
              <a:t> Buffer Cache y el Redo Log Buffer, ya que estas permiten manejar los cambios y el acceso a los datos de forma segura y rápida. Comprender estos elementos, junto con los requisitos </a:t>
            </a:r>
            <a:r>
              <a:rPr lang="es-US" dirty="0" err="1"/>
              <a:t>minimos</a:t>
            </a:r>
            <a:r>
              <a:rPr lang="es-US" dirty="0"/>
              <a:t> de instalación (procesador, memoria y disco), es indispensable para cualquier administrador que busque evitar fallos sistémicos y asegurar la integridad de la información mediante procesos transaccionales adecuados.</a:t>
            </a:r>
          </a:p>
        </p:txBody>
      </p:sp>
    </p:spTree>
    <p:extLst>
      <p:ext uri="{BB962C8B-B14F-4D97-AF65-F5344CB8AC3E}">
        <p14:creationId xmlns:p14="http://schemas.microsoft.com/office/powerpoint/2010/main" val="679947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0662A1-0BAF-F66F-8E49-AA2F9C6F4D92}"/>
              </a:ext>
            </a:extLst>
          </p:cNvPr>
          <p:cNvSpPr>
            <a:spLocks noGrp="1"/>
          </p:cNvSpPr>
          <p:nvPr>
            <p:ph type="title"/>
          </p:nvPr>
        </p:nvSpPr>
        <p:spPr>
          <a:xfrm>
            <a:off x="824984" y="0"/>
            <a:ext cx="10353761" cy="1326321"/>
          </a:xfrm>
        </p:spPr>
        <p:txBody>
          <a:bodyPr/>
          <a:lstStyle/>
          <a:p>
            <a:r>
              <a:rPr lang="es-US" dirty="0"/>
              <a:t>Estructura de memoria y proceso de instalación.</a:t>
            </a:r>
          </a:p>
        </p:txBody>
      </p:sp>
      <p:sp>
        <p:nvSpPr>
          <p:cNvPr id="3" name="Marcador de contenido 2">
            <a:extLst>
              <a:ext uri="{FF2B5EF4-FFF2-40B4-BE49-F238E27FC236}">
                <a16:creationId xmlns:a16="http://schemas.microsoft.com/office/drawing/2014/main" id="{89EDC557-3472-7584-AC7C-44325E086FEC}"/>
              </a:ext>
            </a:extLst>
          </p:cNvPr>
          <p:cNvSpPr>
            <a:spLocks noGrp="1"/>
          </p:cNvSpPr>
          <p:nvPr>
            <p:ph sz="quarter" idx="13"/>
          </p:nvPr>
        </p:nvSpPr>
        <p:spPr>
          <a:xfrm>
            <a:off x="336502" y="1532267"/>
            <a:ext cx="8393638" cy="5164097"/>
          </a:xfrm>
        </p:spPr>
        <p:txBody>
          <a:bodyPr/>
          <a:lstStyle/>
          <a:p>
            <a:pPr marL="0" indent="0" algn="just">
              <a:buNone/>
            </a:pPr>
            <a:r>
              <a:rPr lang="es-US" dirty="0"/>
              <a:t>El uso de memoria así como el de los procesos son parte importante de la base de datos, ya que deben ser configuradas de manera eficiente para que sea funcional para Múltiples usuarios, ya que se debe asignar el espacio necesario a cualquier base de datos. </a:t>
            </a:r>
          </a:p>
          <a:p>
            <a:pPr marL="0" indent="0">
              <a:buNone/>
            </a:pPr>
            <a:r>
              <a:rPr lang="es-US" dirty="0"/>
              <a:t>Tipos de Estructura</a:t>
            </a:r>
          </a:p>
          <a:p>
            <a:pPr algn="just"/>
            <a:r>
              <a:rPr lang="es-US" dirty="0"/>
              <a:t>(SGA) Área Global del Sistema, Comparte entre todos los servidores y los procesos en plano suspendido o segundo plano</a:t>
            </a:r>
          </a:p>
          <a:p>
            <a:pPr algn="just"/>
            <a:endParaRPr lang="es-US" dirty="0"/>
          </a:p>
          <a:p>
            <a:pPr algn="just"/>
            <a:r>
              <a:rPr lang="es-US" dirty="0"/>
              <a:t>Áreas Globales de Programas (PGA)..Este tipo de estructura es privada para cada servidor y proceso en segundo plano, cada proceso debe ser asignado a una PGA</a:t>
            </a:r>
          </a:p>
          <a:p>
            <a:endParaRPr lang="es-US" dirty="0"/>
          </a:p>
          <a:p>
            <a:pPr marL="0" indent="0">
              <a:buNone/>
            </a:pPr>
            <a:endParaRPr lang="es-US" dirty="0"/>
          </a:p>
        </p:txBody>
      </p:sp>
      <p:pic>
        <p:nvPicPr>
          <p:cNvPr id="4" name="Imagen 3">
            <a:extLst>
              <a:ext uri="{FF2B5EF4-FFF2-40B4-BE49-F238E27FC236}">
                <a16:creationId xmlns:a16="http://schemas.microsoft.com/office/drawing/2014/main" id="{6100E51B-ECDB-E51E-9B84-53E66D92B807}"/>
              </a:ext>
            </a:extLst>
          </p:cNvPr>
          <p:cNvPicPr>
            <a:picLocks noChangeAspect="1"/>
          </p:cNvPicPr>
          <p:nvPr/>
        </p:nvPicPr>
        <p:blipFill>
          <a:blip r:embed="rId2"/>
          <a:stretch>
            <a:fillRect/>
          </a:stretch>
        </p:blipFill>
        <p:spPr>
          <a:xfrm>
            <a:off x="8730140" y="1225594"/>
            <a:ext cx="2779161" cy="1643007"/>
          </a:xfrm>
          <a:prstGeom prst="rect">
            <a:avLst/>
          </a:prstGeom>
        </p:spPr>
      </p:pic>
      <p:pic>
        <p:nvPicPr>
          <p:cNvPr id="5" name="Imagen 4">
            <a:extLst>
              <a:ext uri="{FF2B5EF4-FFF2-40B4-BE49-F238E27FC236}">
                <a16:creationId xmlns:a16="http://schemas.microsoft.com/office/drawing/2014/main" id="{2320D4F8-4831-2B8F-99E4-E18D6B392D84}"/>
              </a:ext>
            </a:extLst>
          </p:cNvPr>
          <p:cNvPicPr>
            <a:picLocks noChangeAspect="1"/>
          </p:cNvPicPr>
          <p:nvPr/>
        </p:nvPicPr>
        <p:blipFill>
          <a:blip r:embed="rId3"/>
          <a:stretch>
            <a:fillRect/>
          </a:stretch>
        </p:blipFill>
        <p:spPr>
          <a:xfrm>
            <a:off x="8890000" y="3401027"/>
            <a:ext cx="1919209" cy="1176746"/>
          </a:xfrm>
          <a:prstGeom prst="rect">
            <a:avLst/>
          </a:prstGeom>
        </p:spPr>
      </p:pic>
      <p:pic>
        <p:nvPicPr>
          <p:cNvPr id="6" name="Imagen 5">
            <a:extLst>
              <a:ext uri="{FF2B5EF4-FFF2-40B4-BE49-F238E27FC236}">
                <a16:creationId xmlns:a16="http://schemas.microsoft.com/office/drawing/2014/main" id="{6B5F7A22-1CAC-2C08-D50C-81128B88DA90}"/>
              </a:ext>
            </a:extLst>
          </p:cNvPr>
          <p:cNvPicPr>
            <a:picLocks noChangeAspect="1"/>
          </p:cNvPicPr>
          <p:nvPr/>
        </p:nvPicPr>
        <p:blipFill>
          <a:blip r:embed="rId4"/>
          <a:stretch>
            <a:fillRect/>
          </a:stretch>
        </p:blipFill>
        <p:spPr>
          <a:xfrm>
            <a:off x="8214145" y="4988250"/>
            <a:ext cx="1808197" cy="1064418"/>
          </a:xfrm>
          <a:prstGeom prst="rect">
            <a:avLst/>
          </a:prstGeom>
        </p:spPr>
      </p:pic>
    </p:spTree>
    <p:extLst>
      <p:ext uri="{BB962C8B-B14F-4D97-AF65-F5344CB8AC3E}">
        <p14:creationId xmlns:p14="http://schemas.microsoft.com/office/powerpoint/2010/main" val="1492309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7E901B-6F24-9048-927F-3293824C2642}"/>
              </a:ext>
            </a:extLst>
          </p:cNvPr>
          <p:cNvSpPr>
            <a:spLocks noGrp="1"/>
          </p:cNvSpPr>
          <p:nvPr>
            <p:ph type="title"/>
          </p:nvPr>
        </p:nvSpPr>
        <p:spPr>
          <a:xfrm>
            <a:off x="913774" y="165544"/>
            <a:ext cx="10353761" cy="1326321"/>
          </a:xfrm>
        </p:spPr>
        <p:txBody>
          <a:bodyPr/>
          <a:lstStyle/>
          <a:p>
            <a:r>
              <a:rPr lang="es-US" dirty="0"/>
              <a:t>Estructura física de la base de datos</a:t>
            </a:r>
          </a:p>
        </p:txBody>
      </p:sp>
      <p:sp>
        <p:nvSpPr>
          <p:cNvPr id="3" name="Marcador de contenido 2">
            <a:extLst>
              <a:ext uri="{FF2B5EF4-FFF2-40B4-BE49-F238E27FC236}">
                <a16:creationId xmlns:a16="http://schemas.microsoft.com/office/drawing/2014/main" id="{65B210BD-8CC8-200A-675D-3530EECED99F}"/>
              </a:ext>
            </a:extLst>
          </p:cNvPr>
          <p:cNvSpPr>
            <a:spLocks noGrp="1"/>
          </p:cNvSpPr>
          <p:nvPr>
            <p:ph sz="quarter" idx="13"/>
          </p:nvPr>
        </p:nvSpPr>
        <p:spPr>
          <a:xfrm>
            <a:off x="903709" y="1336883"/>
            <a:ext cx="10363826" cy="1398502"/>
          </a:xfrm>
        </p:spPr>
        <p:txBody>
          <a:bodyPr/>
          <a:lstStyle/>
          <a:p>
            <a:pPr marL="0" indent="0" algn="just">
              <a:buNone/>
            </a:pPr>
            <a:r>
              <a:rPr lang="es-US" dirty="0"/>
              <a:t>Define como la estructura de la memoria la cual esta compartida y contiene datos e información de control, para una instancia de BD, cada instancia como se menciona tiene su propia estructura.</a:t>
            </a:r>
          </a:p>
          <a:p>
            <a:pPr marL="0" indent="0">
              <a:buNone/>
            </a:pPr>
            <a:endParaRPr lang="es-US" dirty="0"/>
          </a:p>
        </p:txBody>
      </p:sp>
      <p:sp>
        <p:nvSpPr>
          <p:cNvPr id="5" name="Marcador de contenido 2">
            <a:extLst>
              <a:ext uri="{FF2B5EF4-FFF2-40B4-BE49-F238E27FC236}">
                <a16:creationId xmlns:a16="http://schemas.microsoft.com/office/drawing/2014/main" id="{1078F65E-086E-D88F-F395-0F9DEF7D050C}"/>
              </a:ext>
            </a:extLst>
          </p:cNvPr>
          <p:cNvSpPr txBox="1">
            <a:spLocks/>
          </p:cNvSpPr>
          <p:nvPr/>
        </p:nvSpPr>
        <p:spPr>
          <a:xfrm>
            <a:off x="924465" y="2575525"/>
            <a:ext cx="7603220" cy="386506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just">
              <a:buNone/>
            </a:pPr>
            <a:r>
              <a:rPr lang="es-US" dirty="0"/>
              <a:t>Tipos De Instancias</a:t>
            </a:r>
          </a:p>
          <a:p>
            <a:pPr algn="just"/>
            <a:r>
              <a:rPr lang="es-US" dirty="0"/>
              <a:t>Redo log Buffer Un buffer con una estructura circular el cual mantiene los cambios realizados dentro de la base de datos el cual se puede manejar con funciones.</a:t>
            </a:r>
          </a:p>
          <a:p>
            <a:pPr marL="0" indent="0" algn="just">
              <a:buNone/>
            </a:pPr>
            <a:endParaRPr lang="es-US" dirty="0"/>
          </a:p>
          <a:p>
            <a:pPr algn="just"/>
            <a:r>
              <a:rPr lang="es-US" dirty="0"/>
              <a:t>Data Base Buffer Cache Mantiene bloques de datos que son leídos por el sistema directamente de archivos de datos. Uno de los procesos al momento de utilizar los bloques, es aquel donde el mismo sistema busca los bloques dentro de la estructura según sean requeridos.</a:t>
            </a:r>
          </a:p>
          <a:p>
            <a:endParaRPr lang="es-US" dirty="0"/>
          </a:p>
        </p:txBody>
      </p:sp>
      <p:pic>
        <p:nvPicPr>
          <p:cNvPr id="6" name="Imagen 5">
            <a:extLst>
              <a:ext uri="{FF2B5EF4-FFF2-40B4-BE49-F238E27FC236}">
                <a16:creationId xmlns:a16="http://schemas.microsoft.com/office/drawing/2014/main" id="{3351D969-1C2D-D687-76E7-6FDE0115329E}"/>
              </a:ext>
            </a:extLst>
          </p:cNvPr>
          <p:cNvPicPr>
            <a:picLocks noChangeAspect="1"/>
          </p:cNvPicPr>
          <p:nvPr/>
        </p:nvPicPr>
        <p:blipFill>
          <a:blip r:embed="rId2"/>
          <a:stretch>
            <a:fillRect/>
          </a:stretch>
        </p:blipFill>
        <p:spPr>
          <a:xfrm>
            <a:off x="8681010" y="2781122"/>
            <a:ext cx="1812842" cy="1295755"/>
          </a:xfrm>
          <a:prstGeom prst="rect">
            <a:avLst/>
          </a:prstGeom>
        </p:spPr>
      </p:pic>
      <p:pic>
        <p:nvPicPr>
          <p:cNvPr id="7" name="Imagen 6">
            <a:extLst>
              <a:ext uri="{FF2B5EF4-FFF2-40B4-BE49-F238E27FC236}">
                <a16:creationId xmlns:a16="http://schemas.microsoft.com/office/drawing/2014/main" id="{67D5B027-AF72-AA05-E57B-EFF9EEFC3D84}"/>
              </a:ext>
            </a:extLst>
          </p:cNvPr>
          <p:cNvPicPr>
            <a:picLocks noChangeAspect="1"/>
          </p:cNvPicPr>
          <p:nvPr/>
        </p:nvPicPr>
        <p:blipFill>
          <a:blip r:embed="rId3"/>
          <a:stretch>
            <a:fillRect/>
          </a:stretch>
        </p:blipFill>
        <p:spPr>
          <a:xfrm>
            <a:off x="8681010" y="4701967"/>
            <a:ext cx="3205162" cy="1638299"/>
          </a:xfrm>
          <a:prstGeom prst="rect">
            <a:avLst/>
          </a:prstGeom>
        </p:spPr>
      </p:pic>
    </p:spTree>
    <p:extLst>
      <p:ext uri="{BB962C8B-B14F-4D97-AF65-F5344CB8AC3E}">
        <p14:creationId xmlns:p14="http://schemas.microsoft.com/office/powerpoint/2010/main" val="3324503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51AF45-385A-0CBE-7238-FB15DF4D4FE8}"/>
              </a:ext>
            </a:extLst>
          </p:cNvPr>
          <p:cNvSpPr>
            <a:spLocks noGrp="1"/>
          </p:cNvSpPr>
          <p:nvPr>
            <p:ph type="title"/>
          </p:nvPr>
        </p:nvSpPr>
        <p:spPr/>
        <p:txBody>
          <a:bodyPr>
            <a:normAutofit/>
          </a:bodyPr>
          <a:lstStyle/>
          <a:p>
            <a:r>
              <a:rPr lang="es-US" dirty="0"/>
              <a:t>Requerimientos para 
instalación.</a:t>
            </a:r>
          </a:p>
        </p:txBody>
      </p:sp>
      <p:sp>
        <p:nvSpPr>
          <p:cNvPr id="3" name="Marcador de contenido 2">
            <a:extLst>
              <a:ext uri="{FF2B5EF4-FFF2-40B4-BE49-F238E27FC236}">
                <a16:creationId xmlns:a16="http://schemas.microsoft.com/office/drawing/2014/main" id="{B0F4AFF7-582F-05F6-5BA1-4C36E8EAF8BE}"/>
              </a:ext>
            </a:extLst>
          </p:cNvPr>
          <p:cNvSpPr>
            <a:spLocks noGrp="1"/>
          </p:cNvSpPr>
          <p:nvPr>
            <p:ph sz="quarter" idx="13"/>
          </p:nvPr>
        </p:nvSpPr>
        <p:spPr>
          <a:xfrm>
            <a:off x="1064753" y="1935921"/>
            <a:ext cx="10363826" cy="3424107"/>
          </a:xfrm>
        </p:spPr>
        <p:txBody>
          <a:bodyPr/>
          <a:lstStyle/>
          <a:p>
            <a:pPr marL="0" indent="0" algn="just">
              <a:buNone/>
            </a:pPr>
            <a:r>
              <a:rPr lang="es-US" dirty="0"/>
              <a:t>Es necesario conocer los requisitos para que SGBD funcione correctamente, estos requisitos son normalmente marcados por el Hardware con el que se cuente, siempre que se instale un SBGD es necesario revisar en la página del proveedor del SGBD.</a:t>
            </a:r>
          </a:p>
        </p:txBody>
      </p:sp>
      <p:pic>
        <p:nvPicPr>
          <p:cNvPr id="4" name="Imagen 3">
            <a:extLst>
              <a:ext uri="{FF2B5EF4-FFF2-40B4-BE49-F238E27FC236}">
                <a16:creationId xmlns:a16="http://schemas.microsoft.com/office/drawing/2014/main" id="{6A6697A3-C6A3-4531-C29D-F21A87C0E316}"/>
              </a:ext>
            </a:extLst>
          </p:cNvPr>
          <p:cNvPicPr>
            <a:picLocks noChangeAspect="1"/>
          </p:cNvPicPr>
          <p:nvPr/>
        </p:nvPicPr>
        <p:blipFill>
          <a:blip r:embed="rId2"/>
          <a:stretch>
            <a:fillRect/>
          </a:stretch>
        </p:blipFill>
        <p:spPr>
          <a:xfrm>
            <a:off x="3863287" y="3429000"/>
            <a:ext cx="3872090" cy="2709333"/>
          </a:xfrm>
          <a:prstGeom prst="rect">
            <a:avLst/>
          </a:prstGeom>
        </p:spPr>
      </p:pic>
    </p:spTree>
    <p:extLst>
      <p:ext uri="{BB962C8B-B14F-4D97-AF65-F5344CB8AC3E}">
        <p14:creationId xmlns:p14="http://schemas.microsoft.com/office/powerpoint/2010/main" val="2017091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C9C07C-E0BC-503A-4765-AC11FB08AB7A}"/>
              </a:ext>
            </a:extLst>
          </p:cNvPr>
          <p:cNvSpPr>
            <a:spLocks noGrp="1"/>
          </p:cNvSpPr>
          <p:nvPr>
            <p:ph type="title"/>
          </p:nvPr>
        </p:nvSpPr>
        <p:spPr>
          <a:xfrm>
            <a:off x="913774" y="218830"/>
            <a:ext cx="10353761" cy="1326321"/>
          </a:xfrm>
        </p:spPr>
        <p:txBody>
          <a:bodyPr/>
          <a:lstStyle/>
          <a:p>
            <a:r>
              <a:rPr lang="es-US" dirty="0"/>
              <a:t>Instalación del SGBD en modo transaccional</a:t>
            </a:r>
          </a:p>
        </p:txBody>
      </p:sp>
      <p:sp>
        <p:nvSpPr>
          <p:cNvPr id="3" name="Marcador de contenido 2">
            <a:extLst>
              <a:ext uri="{FF2B5EF4-FFF2-40B4-BE49-F238E27FC236}">
                <a16:creationId xmlns:a16="http://schemas.microsoft.com/office/drawing/2014/main" id="{25511541-709B-817A-8B79-C3DDD0914B78}"/>
              </a:ext>
            </a:extLst>
          </p:cNvPr>
          <p:cNvSpPr>
            <a:spLocks noGrp="1"/>
          </p:cNvSpPr>
          <p:nvPr>
            <p:ph sz="quarter" idx="13"/>
          </p:nvPr>
        </p:nvSpPr>
        <p:spPr>
          <a:xfrm>
            <a:off x="913774" y="1716946"/>
            <a:ext cx="10363826" cy="3424107"/>
          </a:xfrm>
        </p:spPr>
        <p:txBody>
          <a:bodyPr/>
          <a:lstStyle/>
          <a:p>
            <a:pPr marL="0" indent="0" algn="just">
              <a:buNone/>
            </a:pPr>
            <a:r>
              <a:rPr lang="es-US" dirty="0"/>
              <a:t>Una transacción es un conjunto de líneas de un programa que llevan INSERT O UPDATE O DELETE. Todo aquel software que tiene un registro de transacciones (que es la “bitácora” que permite hacer operaciones de </a:t>
            </a:r>
            <a:r>
              <a:rPr lang="es-US" dirty="0" err="1"/>
              <a:t>commit</a:t>
            </a:r>
            <a:r>
              <a:rPr lang="es-US" dirty="0"/>
              <a:t> o </a:t>
            </a:r>
            <a:r>
              <a:rPr lang="es-US" dirty="0" err="1"/>
              <a:t>rollback</a:t>
            </a:r>
            <a:r>
              <a:rPr lang="es-US" dirty="0"/>
              <a:t>), propiamente es un software de BD; aquel que no lo tiene (</a:t>
            </a:r>
            <a:r>
              <a:rPr lang="es-US" dirty="0" err="1"/>
              <a:t>vg</a:t>
            </a:r>
            <a:r>
              <a:rPr lang="es-US" dirty="0"/>
              <a:t> D-Base), propiamente no lo es. Todo software de base de datos es transaccional; si el software de la BD no es “transaccional”, en realidad NO es un “software” de BD; En todo caso, es un software que emula el funcionamiento de un verdadero software de BD.</a:t>
            </a:r>
          </a:p>
        </p:txBody>
      </p:sp>
      <p:pic>
        <p:nvPicPr>
          <p:cNvPr id="6" name="Imagen 5">
            <a:extLst>
              <a:ext uri="{FF2B5EF4-FFF2-40B4-BE49-F238E27FC236}">
                <a16:creationId xmlns:a16="http://schemas.microsoft.com/office/drawing/2014/main" id="{EDF04F02-CF04-0305-5912-10006667DB73}"/>
              </a:ext>
            </a:extLst>
          </p:cNvPr>
          <p:cNvPicPr>
            <a:picLocks noChangeAspect="1"/>
          </p:cNvPicPr>
          <p:nvPr/>
        </p:nvPicPr>
        <p:blipFill>
          <a:blip r:embed="rId2"/>
          <a:srcRect t="13694" b="4811"/>
          <a:stretch>
            <a:fillRect/>
          </a:stretch>
        </p:blipFill>
        <p:spPr>
          <a:xfrm>
            <a:off x="3426094" y="4458321"/>
            <a:ext cx="4849539" cy="2264686"/>
          </a:xfrm>
          <a:prstGeom prst="rect">
            <a:avLst/>
          </a:prstGeom>
        </p:spPr>
      </p:pic>
    </p:spTree>
    <p:extLst>
      <p:ext uri="{BB962C8B-B14F-4D97-AF65-F5344CB8AC3E}">
        <p14:creationId xmlns:p14="http://schemas.microsoft.com/office/powerpoint/2010/main" val="2414719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243B19-AAA2-362A-674B-FB7C64170562}"/>
              </a:ext>
            </a:extLst>
          </p:cNvPr>
          <p:cNvSpPr>
            <a:spLocks noGrp="1"/>
          </p:cNvSpPr>
          <p:nvPr>
            <p:ph type="title"/>
          </p:nvPr>
        </p:nvSpPr>
        <p:spPr>
          <a:xfrm>
            <a:off x="913795" y="174425"/>
            <a:ext cx="10353761" cy="1326321"/>
          </a:xfrm>
        </p:spPr>
        <p:txBody>
          <a:bodyPr>
            <a:normAutofit fontScale="90000"/>
          </a:bodyPr>
          <a:lstStyle/>
          <a:p>
            <a:r>
              <a:rPr lang="es-US" dirty="0"/>
              <a:t>Variables de Ambiente y 
archivos importantes para 
instalación.</a:t>
            </a:r>
          </a:p>
        </p:txBody>
      </p:sp>
      <p:sp>
        <p:nvSpPr>
          <p:cNvPr id="3" name="Marcador de contenido 2">
            <a:extLst>
              <a:ext uri="{FF2B5EF4-FFF2-40B4-BE49-F238E27FC236}">
                <a16:creationId xmlns:a16="http://schemas.microsoft.com/office/drawing/2014/main" id="{47856F95-D295-4E26-611A-51D342B10D79}"/>
              </a:ext>
            </a:extLst>
          </p:cNvPr>
          <p:cNvSpPr>
            <a:spLocks noGrp="1"/>
          </p:cNvSpPr>
          <p:nvPr>
            <p:ph sz="quarter" idx="13"/>
          </p:nvPr>
        </p:nvSpPr>
        <p:spPr>
          <a:xfrm>
            <a:off x="1082535" y="1500746"/>
            <a:ext cx="10363826" cy="4671631"/>
          </a:xfrm>
        </p:spPr>
        <p:txBody>
          <a:bodyPr/>
          <a:lstStyle/>
          <a:p>
            <a:pPr marL="0" indent="0" algn="just">
              <a:buNone/>
            </a:pPr>
            <a:r>
              <a:rPr lang="es-US" dirty="0"/>
              <a:t>Para instalar el SGBD como primer instancia el archivo primordial es el que se descarga de la Web. Su configuración dependerá del S.O. Por ejemplo para instalar </a:t>
            </a:r>
            <a:r>
              <a:rPr lang="es-US" dirty="0" err="1"/>
              <a:t>MySQL</a:t>
            </a:r>
            <a:r>
              <a:rPr lang="es-US" dirty="0"/>
              <a:t> como primera instancia el archivo primordial es el que se descarga de la Web de </a:t>
            </a:r>
            <a:r>
              <a:rPr lang="es-US" dirty="0" err="1"/>
              <a:t>MySQL</a:t>
            </a:r>
            <a:r>
              <a:rPr lang="es-US" dirty="0"/>
              <a:t>. El proceso para instalar </a:t>
            </a:r>
            <a:r>
              <a:rPr lang="es-US" dirty="0" err="1"/>
              <a:t>MySQL</a:t>
            </a:r>
            <a:r>
              <a:rPr lang="es-US" dirty="0"/>
              <a:t> desde un archivo ZIP es el siguiente:</a:t>
            </a:r>
          </a:p>
          <a:p>
            <a:pPr algn="just"/>
            <a:r>
              <a:rPr lang="es-US" dirty="0"/>
              <a:t>Extraer el contenido del archivo dentro del directorio de instalación deseado.</a:t>
            </a:r>
          </a:p>
          <a:p>
            <a:pPr algn="just"/>
            <a:r>
              <a:rPr lang="es-US" dirty="0"/>
              <a:t>Crear un archivo de opciones.</a:t>
            </a:r>
          </a:p>
          <a:p>
            <a:pPr algn="just"/>
            <a:r>
              <a:rPr lang="es-US" dirty="0"/>
              <a:t>Elegir un tipo de servidor </a:t>
            </a:r>
            <a:r>
              <a:rPr lang="es-US" dirty="0" err="1"/>
              <a:t>MySQL</a:t>
            </a:r>
            <a:r>
              <a:rPr lang="es-US" dirty="0"/>
              <a:t>.</a:t>
            </a:r>
          </a:p>
          <a:p>
            <a:pPr algn="just"/>
            <a:r>
              <a:rPr lang="es-US" dirty="0"/>
              <a:t>Iniciar el servidor </a:t>
            </a:r>
            <a:r>
              <a:rPr lang="es-US" dirty="0" err="1"/>
              <a:t>MySQL</a:t>
            </a:r>
            <a:r>
              <a:rPr lang="es-US" dirty="0"/>
              <a:t>.</a:t>
            </a:r>
          </a:p>
          <a:p>
            <a:pPr algn="just"/>
            <a:r>
              <a:rPr lang="es-US" dirty="0"/>
              <a:t>Establecer la seguridad de las cuentas de usuario por defecto.</a:t>
            </a:r>
          </a:p>
          <a:p>
            <a:pPr marL="0" indent="0">
              <a:buNone/>
            </a:pPr>
            <a:endParaRPr lang="es-US" dirty="0"/>
          </a:p>
        </p:txBody>
      </p:sp>
      <p:pic>
        <p:nvPicPr>
          <p:cNvPr id="8" name="Imagen 7">
            <a:extLst>
              <a:ext uri="{FF2B5EF4-FFF2-40B4-BE49-F238E27FC236}">
                <a16:creationId xmlns:a16="http://schemas.microsoft.com/office/drawing/2014/main" id="{DAD9B91F-8A2F-09B9-C1FF-B4D296BE2851}"/>
              </a:ext>
            </a:extLst>
          </p:cNvPr>
          <p:cNvPicPr>
            <a:picLocks noChangeAspect="1"/>
          </p:cNvPicPr>
          <p:nvPr/>
        </p:nvPicPr>
        <p:blipFill>
          <a:blip r:embed="rId2"/>
          <a:stretch>
            <a:fillRect/>
          </a:stretch>
        </p:blipFill>
        <p:spPr>
          <a:xfrm>
            <a:off x="7955710" y="3566554"/>
            <a:ext cx="3810000" cy="1790700"/>
          </a:xfrm>
          <a:prstGeom prst="rect">
            <a:avLst/>
          </a:prstGeom>
        </p:spPr>
      </p:pic>
    </p:spTree>
    <p:extLst>
      <p:ext uri="{BB962C8B-B14F-4D97-AF65-F5344CB8AC3E}">
        <p14:creationId xmlns:p14="http://schemas.microsoft.com/office/powerpoint/2010/main" val="1611084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0D9536-2373-4716-A85D-A9802C1E1138}"/>
              </a:ext>
            </a:extLst>
          </p:cNvPr>
          <p:cNvSpPr>
            <a:spLocks noGrp="1"/>
          </p:cNvSpPr>
          <p:nvPr>
            <p:ph type="title"/>
          </p:nvPr>
        </p:nvSpPr>
        <p:spPr>
          <a:xfrm>
            <a:off x="1790700" y="585602"/>
            <a:ext cx="8610600" cy="1293028"/>
          </a:xfrm>
        </p:spPr>
        <p:txBody>
          <a:bodyPr/>
          <a:lstStyle/>
          <a:p>
            <a:pPr algn="ctr"/>
            <a:r>
              <a:rPr lang="es-MX" b="1" dirty="0"/>
              <a:t>Conclusión</a:t>
            </a:r>
            <a:r>
              <a:rPr lang="es-MX" dirty="0"/>
              <a:t> </a:t>
            </a:r>
          </a:p>
        </p:txBody>
      </p:sp>
      <p:sp>
        <p:nvSpPr>
          <p:cNvPr id="3" name="Marcador de contenido 2">
            <a:extLst>
              <a:ext uri="{FF2B5EF4-FFF2-40B4-BE49-F238E27FC236}">
                <a16:creationId xmlns:a16="http://schemas.microsoft.com/office/drawing/2014/main" id="{2068DE2A-CAFB-400E-89FD-3E49FD7B341C}"/>
              </a:ext>
            </a:extLst>
          </p:cNvPr>
          <p:cNvSpPr>
            <a:spLocks noGrp="1"/>
          </p:cNvSpPr>
          <p:nvPr>
            <p:ph sz="quarter" idx="13"/>
          </p:nvPr>
        </p:nvSpPr>
        <p:spPr>
          <a:xfrm>
            <a:off x="1011466" y="1878630"/>
            <a:ext cx="10363826" cy="3424107"/>
          </a:xfrm>
        </p:spPr>
        <p:txBody>
          <a:bodyPr>
            <a:normAutofit lnSpcReduction="10000"/>
          </a:bodyPr>
          <a:lstStyle/>
          <a:p>
            <a:pPr marL="0" indent="0" algn="just">
              <a:buNone/>
            </a:pPr>
            <a:r>
              <a:rPr lang="es-US" dirty="0"/>
              <a:t>Como conclusión puedo decir sobre la correcta implementación de una base de datos requiere un equilibrio entre el hardware disponible y la configuración del software. Se deben cumplir requerimientos </a:t>
            </a:r>
            <a:r>
              <a:rPr lang="es-US" dirty="0" err="1"/>
              <a:t>especificos</a:t>
            </a:r>
            <a:r>
              <a:rPr lang="es-US" dirty="0"/>
              <a:t> de procesador, memoria y disco para asegurar que componentes como el </a:t>
            </a:r>
            <a:r>
              <a:rPr lang="es-US" dirty="0" err="1"/>
              <a:t>Database</a:t>
            </a:r>
            <a:r>
              <a:rPr lang="es-US" dirty="0"/>
              <a:t> Buffer Cache o el Redo Log Buffer operen correctamente. Asimismo, la esencia de un verdadero SGBD radica en su capacidad transaccional, permitiendo operaciones de </a:t>
            </a:r>
            <a:r>
              <a:rPr lang="es-US" dirty="0" err="1"/>
              <a:t>commit</a:t>
            </a:r>
            <a:r>
              <a:rPr lang="es-US" dirty="0"/>
              <a:t> y </a:t>
            </a:r>
            <a:r>
              <a:rPr lang="es-US" dirty="0" err="1"/>
              <a:t>rollback</a:t>
            </a:r>
            <a:r>
              <a:rPr lang="es-US" dirty="0"/>
              <a:t> a través de una bitácora de transacciones. Finalmente, el éxito de la instalación, ya sea mediante instaladores automáticos o archivos ZIP, depende de seguir una secuencia lógica que incluye la creación de archivos de opciones, el inicio del servidor y el establecimiento de protocolos de seguridad para los usuarios.</a:t>
            </a:r>
          </a:p>
        </p:txBody>
      </p:sp>
    </p:spTree>
    <p:extLst>
      <p:ext uri="{BB962C8B-B14F-4D97-AF65-F5344CB8AC3E}">
        <p14:creationId xmlns:p14="http://schemas.microsoft.com/office/powerpoint/2010/main" val="2345241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9BD2CC-1288-D1DD-20A1-7101BF8C57B6}"/>
              </a:ext>
            </a:extLst>
          </p:cNvPr>
          <p:cNvSpPr>
            <a:spLocks noGrp="1"/>
          </p:cNvSpPr>
          <p:nvPr>
            <p:ph type="title"/>
          </p:nvPr>
        </p:nvSpPr>
        <p:spPr/>
        <p:txBody>
          <a:bodyPr/>
          <a:lstStyle/>
          <a:p>
            <a:r>
              <a:rPr lang="es-US" dirty="0"/>
              <a:t>Referencia</a:t>
            </a:r>
          </a:p>
        </p:txBody>
      </p:sp>
      <p:sp>
        <p:nvSpPr>
          <p:cNvPr id="3" name="Marcador de contenido 2">
            <a:extLst>
              <a:ext uri="{FF2B5EF4-FFF2-40B4-BE49-F238E27FC236}">
                <a16:creationId xmlns:a16="http://schemas.microsoft.com/office/drawing/2014/main" id="{63A18A52-B9D6-7D01-6856-3DEDFF609A6F}"/>
              </a:ext>
            </a:extLst>
          </p:cNvPr>
          <p:cNvSpPr>
            <a:spLocks noGrp="1"/>
          </p:cNvSpPr>
          <p:nvPr>
            <p:ph sz="quarter" idx="13"/>
          </p:nvPr>
        </p:nvSpPr>
        <p:spPr>
          <a:xfrm>
            <a:off x="924444" y="1716946"/>
            <a:ext cx="10363826" cy="3424107"/>
          </a:xfrm>
        </p:spPr>
        <p:txBody>
          <a:bodyPr>
            <a:normAutofit/>
          </a:bodyPr>
          <a:lstStyle/>
          <a:p>
            <a:r>
              <a:rPr lang="es-US" dirty="0"/>
              <a:t>Unidad </a:t>
            </a:r>
            <a:r>
              <a:rPr lang="es-US" dirty="0" err="1"/>
              <a:t>II.pdf</a:t>
            </a:r>
            <a:r>
              <a:rPr lang="es-US" dirty="0"/>
              <a:t> </a:t>
            </a:r>
            <a:r>
              <a:rPr lang="es-US" dirty="0">
                <a:hlinkClick r:id="rId2"/>
              </a:rPr>
              <a:t>https://share.google/uoYAifyR8ULJ2zEiC</a:t>
            </a:r>
            <a:r>
              <a:rPr lang="es-US" dirty="0"/>
              <a:t> </a:t>
            </a:r>
          </a:p>
          <a:p>
            <a:r>
              <a:rPr lang="es-US" dirty="0"/>
              <a:t>UNIDAD 2 :: </a:t>
            </a:r>
            <a:r>
              <a:rPr lang="es-US" dirty="0" err="1"/>
              <a:t>Administracion</a:t>
            </a:r>
            <a:r>
              <a:rPr lang="es-US" dirty="0"/>
              <a:t> Bases de Datos </a:t>
            </a:r>
            <a:r>
              <a:rPr lang="es-US" dirty="0">
                <a:hlinkClick r:id="rId3"/>
              </a:rPr>
              <a:t>https://share.google/W9DgiNLxj9JHaiJkl</a:t>
            </a:r>
            <a:endParaRPr lang="es-US" dirty="0"/>
          </a:p>
          <a:p>
            <a:r>
              <a:rPr lang="es-US" dirty="0"/>
              <a:t>SGBD: qué son y cuáles son los mejores – Blog </a:t>
            </a:r>
            <a:r>
              <a:rPr lang="es-US" dirty="0" err="1"/>
              <a:t>Ausum</a:t>
            </a:r>
            <a:r>
              <a:rPr lang="es-US" dirty="0"/>
              <a:t> Cloud </a:t>
            </a:r>
            <a:r>
              <a:rPr lang="es-US" dirty="0">
                <a:hlinkClick r:id="rId4"/>
              </a:rPr>
              <a:t>https://share.google/mColU5wIZ3KMAsq8o</a:t>
            </a:r>
            <a:r>
              <a:rPr lang="es-US" dirty="0"/>
              <a:t> </a:t>
            </a:r>
          </a:p>
          <a:p>
            <a:r>
              <a:rPr lang="es-US" dirty="0"/>
              <a:t>López, V. (30 de marzo de 2017). ADMINISTRACION DE BASE DE DATOS. Obtenido de UNIDAD 2: </a:t>
            </a:r>
            <a:r>
              <a:rPr lang="es-US" dirty="0">
                <a:hlinkClick r:id="rId5"/>
              </a:rPr>
              <a:t>http://victoralfonsolopez73.blogspot.com/2017/03/unidad-2.html</a:t>
            </a:r>
            <a:r>
              <a:rPr lang="es-US" dirty="0"/>
              <a:t> </a:t>
            </a:r>
          </a:p>
        </p:txBody>
      </p:sp>
    </p:spTree>
    <p:extLst>
      <p:ext uri="{BB962C8B-B14F-4D97-AF65-F5344CB8AC3E}">
        <p14:creationId xmlns:p14="http://schemas.microsoft.com/office/powerpoint/2010/main" val="5006184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TM04033921[[fn=Damasco]]</Template>
  <TotalTime>820</TotalTime>
  <Words>1005</Words>
  <Application>Microsoft Office PowerPoint</Application>
  <PresentationFormat>Panorámica</PresentationFormat>
  <Paragraphs>56</Paragraphs>
  <Slides>10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Bookman Old Style</vt:lpstr>
      <vt:lpstr>Rockwell</vt:lpstr>
      <vt:lpstr>Damask</vt:lpstr>
      <vt:lpstr>Instituto tecnológico de nacional de México  (instituto tecnológico de frontera Comalapa) </vt:lpstr>
      <vt:lpstr>Introducción </vt:lpstr>
      <vt:lpstr>JUSTIFICACIÓN</vt:lpstr>
      <vt:lpstr>Estructura de memoria y proceso de instalación.</vt:lpstr>
      <vt:lpstr>Estructura física de la base de datos</vt:lpstr>
      <vt:lpstr>Requerimientos para 
instalación.</vt:lpstr>
      <vt:lpstr>Instalación del SGBD en modo transaccional</vt:lpstr>
      <vt:lpstr>Variables de Ambiente y 
archivos importantes para 
instalación.</vt:lpstr>
      <vt:lpstr>Conclusión </vt:lpstr>
      <vt:lpstr>Referencia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Instituto tecnológico de frontera Comalapa</dc:title>
  <dc:creator>WER-PCPLUS</dc:creator>
  <cp:lastModifiedBy>HP-INTEL7</cp:lastModifiedBy>
  <cp:revision>152</cp:revision>
  <dcterms:created xsi:type="dcterms:W3CDTF">2024-03-08T16:42:11Z</dcterms:created>
  <dcterms:modified xsi:type="dcterms:W3CDTF">2026-05-02T05:27:29Z</dcterms:modified>
</cp:coreProperties>
</file>