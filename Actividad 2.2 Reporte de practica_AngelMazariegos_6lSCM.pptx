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301" r:id="rId5"/>
    <p:sldId id="302" r:id="rId6"/>
    <p:sldId id="304" r:id="rId7"/>
    <p:sldId id="305" r:id="rId8"/>
    <p:sldId id="306" r:id="rId9"/>
    <p:sldId id="307" r:id="rId10"/>
    <p:sldId id="303" r:id="rId11"/>
    <p:sldId id="308" r:id="rId12"/>
    <p:sldId id="309" r:id="rId13"/>
    <p:sldId id="266" r:id="rId14"/>
    <p:sldId id="31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82" d="100"/>
          <a:sy n="82" d="100"/>
        </p:scale>
        <p:origin x="53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Administración de Base de Datos</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Sexto </a:t>
            </a:r>
            <a:r>
              <a:rPr lang="es-MX" sz="2000" cap="none" dirty="0"/>
              <a:t>Semestre </a:t>
            </a:r>
          </a:p>
          <a:p>
            <a:endParaRPr lang="es-MX" sz="2000" dirty="0"/>
          </a:p>
          <a:p>
            <a:r>
              <a:rPr lang="es-MX" sz="2000" b="1" dirty="0"/>
              <a:t>Fecha:</a:t>
            </a:r>
          </a:p>
          <a:p>
            <a:r>
              <a:rPr lang="es-US" sz="2000" dirty="0"/>
              <a:t>26/04/2026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sz="1700" dirty="0">
                <a:effectLst/>
              </a:rPr>
              <a:t>Este proyecto documenta el proceso técnico de configuración, desarrollo y despliegue de una arquitectura de </a:t>
            </a:r>
            <a:r>
              <a:rPr lang="es-US" sz="1700" dirty="0" err="1">
                <a:effectLst/>
              </a:rPr>
              <a:t>microservicios</a:t>
            </a:r>
            <a:r>
              <a:rPr lang="es-US" sz="1700" dirty="0">
                <a:effectLst/>
              </a:rPr>
              <a:t> robusta utilizando Spring </a:t>
            </a:r>
            <a:r>
              <a:rPr lang="es-US" sz="1700" dirty="0" err="1">
                <a:effectLst/>
              </a:rPr>
              <a:t>Boot</a:t>
            </a:r>
            <a:r>
              <a:rPr lang="es-US" sz="1700" dirty="0">
                <a:effectLst/>
              </a:rPr>
              <a:t> y Apache </a:t>
            </a:r>
            <a:r>
              <a:rPr lang="es-US" sz="1700" dirty="0" err="1">
                <a:effectLst/>
              </a:rPr>
              <a:t>Maven</a:t>
            </a:r>
            <a:r>
              <a:rPr lang="es-US" sz="1700" dirty="0">
                <a:effectLst/>
              </a:rPr>
              <a:t>. El proceso inicia desde la configuración fundamental del sistema, estableciendo las variables de entorno necesarias para que el comando </a:t>
            </a:r>
            <a:r>
              <a:rPr lang="es-US" sz="1700" dirty="0" err="1">
                <a:effectLst/>
              </a:rPr>
              <a:t>mvn</a:t>
            </a:r>
            <a:r>
              <a:rPr lang="es-US" sz="1700" dirty="0">
                <a:effectLst/>
              </a:rPr>
              <a:t> sea reconocido globalmente. A partir de esta base, se estructuran múltiples servicios interconectados que incluyen un </a:t>
            </a:r>
            <a:r>
              <a:rPr lang="es-US" sz="1700" dirty="0" err="1">
                <a:effectLst/>
              </a:rPr>
              <a:t>Config</a:t>
            </a:r>
            <a:r>
              <a:rPr lang="es-US" sz="1700" dirty="0">
                <a:effectLst/>
              </a:rPr>
              <a:t> Server para la gestión centralizada de parámetros, un servidor de descubrimiento (Eureka) para el registro de instancias, y un API Gateway como punto único de entrada para el consumo de las </a:t>
            </a:r>
            <a:r>
              <a:rPr lang="es-US" sz="1700" dirty="0" err="1">
                <a:effectLst/>
              </a:rPr>
              <a:t>APIs</a:t>
            </a:r>
            <a:r>
              <a:rPr lang="es-US" sz="1700" dirty="0">
                <a:effectLst/>
              </a:rPr>
              <a:t>. </a:t>
            </a:r>
            <a:endParaRPr lang="es-MX" sz="1700"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903730" y="0"/>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893665" y="1071995"/>
            <a:ext cx="10363826" cy="5864159"/>
          </a:xfrm>
        </p:spPr>
        <p:txBody>
          <a:bodyPr>
            <a:normAutofit/>
          </a:bodyPr>
          <a:lstStyle/>
          <a:p>
            <a:pPr marL="0" indent="0" algn="just">
              <a:buNone/>
            </a:pPr>
            <a:r>
              <a:rPr lang="es-US" dirty="0"/>
              <a:t>​</a:t>
            </a:r>
            <a:r>
              <a:rPr lang="es-US" sz="1700" dirty="0"/>
              <a:t>La implementación de esta arquitectura se justifica por la necesidad de crear sistemas escalables, modulares y de fácil mantenimiento. Al separar las responsabilidades en servicios específicos:  </a:t>
            </a:r>
          </a:p>
          <a:p>
            <a:pPr algn="just"/>
            <a:r>
              <a:rPr lang="es-US" sz="1700" dirty="0"/>
              <a:t>Gestión Centralizada: El uso de un </a:t>
            </a:r>
            <a:r>
              <a:rPr lang="es-US" sz="1700" dirty="0" err="1"/>
              <a:t>Config</a:t>
            </a:r>
            <a:r>
              <a:rPr lang="es-US" sz="1700" dirty="0"/>
              <a:t> Server permite manejar archivos de configuración (como </a:t>
            </a:r>
            <a:r>
              <a:rPr lang="es-US" sz="1700" dirty="0" err="1"/>
              <a:t>msvc-course.yml</a:t>
            </a:r>
            <a:r>
              <a:rPr lang="es-US" sz="1700" dirty="0"/>
              <a:t> y </a:t>
            </a:r>
            <a:r>
              <a:rPr lang="es-US" sz="1700" dirty="0" err="1"/>
              <a:t>msvc-student.yml</a:t>
            </a:r>
            <a:r>
              <a:rPr lang="es-US" sz="1700" dirty="0"/>
              <a:t>) de forma externa y limpia. </a:t>
            </a:r>
          </a:p>
          <a:p>
            <a:pPr algn="just"/>
            <a:r>
              <a:rPr lang="es-US" sz="1700" dirty="0"/>
              <a:t>Interoperabilidad de Datos: El proyecto demuestra la capacidad de integrar diferentes motores de base de datos, utilizando </a:t>
            </a:r>
            <a:r>
              <a:rPr lang="es-US" sz="1700" dirty="0" err="1"/>
              <a:t>PostgreSQL</a:t>
            </a:r>
            <a:r>
              <a:rPr lang="es-US" sz="1700" dirty="0"/>
              <a:t> para el servicio de cursos y </a:t>
            </a:r>
            <a:r>
              <a:rPr lang="es-US" sz="1700" dirty="0" err="1"/>
              <a:t>MySQL</a:t>
            </a:r>
            <a:r>
              <a:rPr lang="es-US" sz="1700" dirty="0"/>
              <a:t> para el de estudiantes, validando la independencia tecnológica de cada </a:t>
            </a:r>
            <a:r>
              <a:rPr lang="es-US" sz="1700" dirty="0" err="1"/>
              <a:t>microservicio</a:t>
            </a:r>
            <a:r>
              <a:rPr lang="es-US" sz="1700" dirty="0"/>
              <a:t>.</a:t>
            </a:r>
          </a:p>
          <a:p>
            <a:pPr algn="just"/>
            <a:r>
              <a:rPr lang="es-US" sz="1700" dirty="0"/>
              <a:t>Eficiencia en el Desarrollo: La integración de herramientas como </a:t>
            </a:r>
            <a:r>
              <a:rPr lang="es-US" sz="1700" dirty="0" err="1"/>
              <a:t>Lombok</a:t>
            </a:r>
            <a:r>
              <a:rPr lang="es-US" sz="1700" dirty="0"/>
              <a:t> reduce la verbosidad del código mediante anotaciones como @Data y @Builder, permitiendo que el desarrollador se enfoque en la lógica de negocio y la persistencia de datos.</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3DBE5A8-2A8E-5DA0-560C-0E8819CAAD98}"/>
              </a:ext>
            </a:extLst>
          </p:cNvPr>
          <p:cNvSpPr>
            <a:spLocks noGrp="1"/>
          </p:cNvSpPr>
          <p:nvPr>
            <p:ph sz="quarter" idx="13"/>
          </p:nvPr>
        </p:nvSpPr>
        <p:spPr>
          <a:xfrm>
            <a:off x="6932247" y="3429000"/>
            <a:ext cx="2605641" cy="1778353"/>
          </a:xfrm>
        </p:spPr>
        <p:txBody>
          <a:bodyPr>
            <a:normAutofit fontScale="85000" lnSpcReduction="10000"/>
          </a:bodyPr>
          <a:lstStyle/>
          <a:p>
            <a:pPr marL="0" indent="0" algn="just">
              <a:buNone/>
            </a:pPr>
            <a:r>
              <a:rPr lang="es-US" dirty="0"/>
              <a:t>4. Con ese último clic en Aceptar, la configuración de la variable ha quedado guardada en el sistema.</a:t>
            </a:r>
          </a:p>
        </p:txBody>
      </p:sp>
      <p:pic>
        <p:nvPicPr>
          <p:cNvPr id="6" name="Imagen 5">
            <a:extLst>
              <a:ext uri="{FF2B5EF4-FFF2-40B4-BE49-F238E27FC236}">
                <a16:creationId xmlns:a16="http://schemas.microsoft.com/office/drawing/2014/main" id="{0EE6EF7D-E137-DF4A-FA90-6954090B0076}"/>
              </a:ext>
            </a:extLst>
          </p:cNvPr>
          <p:cNvPicPr>
            <a:picLocks noChangeAspect="1"/>
          </p:cNvPicPr>
          <p:nvPr/>
        </p:nvPicPr>
        <p:blipFill>
          <a:blip r:embed="rId2"/>
          <a:srcRect l="35363" t="22254" r="30958" b="28783"/>
          <a:stretch>
            <a:fillRect/>
          </a:stretch>
        </p:blipFill>
        <p:spPr>
          <a:xfrm>
            <a:off x="3759380" y="94330"/>
            <a:ext cx="1847273" cy="1678532"/>
          </a:xfrm>
          <a:prstGeom prst="rect">
            <a:avLst/>
          </a:prstGeom>
        </p:spPr>
      </p:pic>
      <p:sp>
        <p:nvSpPr>
          <p:cNvPr id="8" name="Marcador de contenido 2">
            <a:extLst>
              <a:ext uri="{FF2B5EF4-FFF2-40B4-BE49-F238E27FC236}">
                <a16:creationId xmlns:a16="http://schemas.microsoft.com/office/drawing/2014/main" id="{6B71707A-E94D-B43D-A65C-7DB7D9C7F032}"/>
              </a:ext>
            </a:extLst>
          </p:cNvPr>
          <p:cNvSpPr txBox="1">
            <a:spLocks/>
          </p:cNvSpPr>
          <p:nvPr/>
        </p:nvSpPr>
        <p:spPr>
          <a:xfrm>
            <a:off x="107013" y="388023"/>
            <a:ext cx="3660002"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 Haz clic en el botón que dice Variables de entorno.</a:t>
            </a:r>
          </a:p>
        </p:txBody>
      </p:sp>
      <p:pic>
        <p:nvPicPr>
          <p:cNvPr id="11" name="Imagen 10">
            <a:extLst>
              <a:ext uri="{FF2B5EF4-FFF2-40B4-BE49-F238E27FC236}">
                <a16:creationId xmlns:a16="http://schemas.microsoft.com/office/drawing/2014/main" id="{94881C61-01CB-9F98-F3E3-E3D0A8112C3A}"/>
              </a:ext>
            </a:extLst>
          </p:cNvPr>
          <p:cNvPicPr>
            <a:picLocks noChangeAspect="1"/>
          </p:cNvPicPr>
          <p:nvPr/>
        </p:nvPicPr>
        <p:blipFill>
          <a:blip r:embed="rId3"/>
          <a:srcRect l="29977" t="8524" r="29657" b="12460"/>
          <a:stretch>
            <a:fillRect/>
          </a:stretch>
        </p:blipFill>
        <p:spPr>
          <a:xfrm>
            <a:off x="3843356" y="2872341"/>
            <a:ext cx="2460070" cy="2708742"/>
          </a:xfrm>
          <a:prstGeom prst="rect">
            <a:avLst/>
          </a:prstGeom>
        </p:spPr>
      </p:pic>
      <p:sp>
        <p:nvSpPr>
          <p:cNvPr id="15" name="Marcador de contenido 2">
            <a:extLst>
              <a:ext uri="{FF2B5EF4-FFF2-40B4-BE49-F238E27FC236}">
                <a16:creationId xmlns:a16="http://schemas.microsoft.com/office/drawing/2014/main" id="{B7663C80-1AD3-CF3C-55A0-0A57604E2333}"/>
              </a:ext>
            </a:extLst>
          </p:cNvPr>
          <p:cNvSpPr txBox="1">
            <a:spLocks/>
          </p:cNvSpPr>
          <p:nvPr/>
        </p:nvSpPr>
        <p:spPr>
          <a:xfrm>
            <a:off x="107013" y="3563814"/>
            <a:ext cx="3660002" cy="177835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2. Haz clic sobre la palabra </a:t>
            </a:r>
            <a:r>
              <a:rPr lang="es-US" sz="1700" dirty="0" err="1"/>
              <a:t>Path</a:t>
            </a:r>
            <a:r>
              <a:rPr lang="es-US" sz="1700" dirty="0"/>
              <a:t> para que quede seleccionada (se pondrá de color azul o gris oscuro).</a:t>
            </a:r>
          </a:p>
        </p:txBody>
      </p:sp>
      <p:pic>
        <p:nvPicPr>
          <p:cNvPr id="18" name="Imagen 17">
            <a:extLst>
              <a:ext uri="{FF2B5EF4-FFF2-40B4-BE49-F238E27FC236}">
                <a16:creationId xmlns:a16="http://schemas.microsoft.com/office/drawing/2014/main" id="{54B19BE3-0F64-C2AA-C8DC-6FB19A4E07FA}"/>
              </a:ext>
            </a:extLst>
          </p:cNvPr>
          <p:cNvPicPr>
            <a:picLocks noChangeAspect="1"/>
          </p:cNvPicPr>
          <p:nvPr/>
        </p:nvPicPr>
        <p:blipFill>
          <a:blip r:embed="rId4"/>
          <a:srcRect l="31143" t="10336" r="30410" b="25932"/>
          <a:stretch>
            <a:fillRect/>
          </a:stretch>
        </p:blipFill>
        <p:spPr>
          <a:xfrm>
            <a:off x="9802280" y="94330"/>
            <a:ext cx="2343104" cy="2184756"/>
          </a:xfrm>
          <a:prstGeom prst="rect">
            <a:avLst/>
          </a:prstGeom>
        </p:spPr>
      </p:pic>
      <p:sp>
        <p:nvSpPr>
          <p:cNvPr id="20" name="Marcador de contenido 2">
            <a:extLst>
              <a:ext uri="{FF2B5EF4-FFF2-40B4-BE49-F238E27FC236}">
                <a16:creationId xmlns:a16="http://schemas.microsoft.com/office/drawing/2014/main" id="{A1C189B2-F10E-06AF-5D02-9A4DECE0F777}"/>
              </a:ext>
            </a:extLst>
          </p:cNvPr>
          <p:cNvSpPr txBox="1">
            <a:spLocks/>
          </p:cNvSpPr>
          <p:nvPr/>
        </p:nvSpPr>
        <p:spPr>
          <a:xfrm>
            <a:off x="7122166" y="116224"/>
            <a:ext cx="2605641" cy="177835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dirty="0"/>
              <a:t>3. Agregamos la ruta de Apache Maven a tu lista. Para terminar de configurar y validar que todo esté correcto</a:t>
            </a:r>
          </a:p>
        </p:txBody>
      </p:sp>
      <p:pic>
        <p:nvPicPr>
          <p:cNvPr id="23" name="Imagen 22">
            <a:extLst>
              <a:ext uri="{FF2B5EF4-FFF2-40B4-BE49-F238E27FC236}">
                <a16:creationId xmlns:a16="http://schemas.microsoft.com/office/drawing/2014/main" id="{D9521334-56C3-589B-86EB-E353EE031C1F}"/>
              </a:ext>
            </a:extLst>
          </p:cNvPr>
          <p:cNvPicPr>
            <a:picLocks noChangeAspect="1"/>
          </p:cNvPicPr>
          <p:nvPr/>
        </p:nvPicPr>
        <p:blipFill>
          <a:blip r:embed="rId5"/>
          <a:srcRect l="29942" t="11007" r="29689" b="15307"/>
          <a:stretch>
            <a:fillRect/>
          </a:stretch>
        </p:blipFill>
        <p:spPr>
          <a:xfrm>
            <a:off x="9685314" y="3055268"/>
            <a:ext cx="2460070" cy="2525815"/>
          </a:xfrm>
          <a:prstGeom prst="rect">
            <a:avLst/>
          </a:prstGeom>
        </p:spPr>
      </p:pic>
    </p:spTree>
    <p:extLst>
      <p:ext uri="{BB962C8B-B14F-4D97-AF65-F5344CB8AC3E}">
        <p14:creationId xmlns:p14="http://schemas.microsoft.com/office/powerpoint/2010/main" val="318812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99D347E-47FA-34A3-0A23-3276ECF975B0}"/>
              </a:ext>
            </a:extLst>
          </p:cNvPr>
          <p:cNvSpPr>
            <a:spLocks noGrp="1"/>
          </p:cNvSpPr>
          <p:nvPr>
            <p:ph sz="quarter" idx="13"/>
          </p:nvPr>
        </p:nvSpPr>
        <p:spPr>
          <a:xfrm>
            <a:off x="283214" y="226743"/>
            <a:ext cx="5738185" cy="3424107"/>
          </a:xfrm>
        </p:spPr>
        <p:txBody>
          <a:bodyPr>
            <a:normAutofit/>
          </a:bodyPr>
          <a:lstStyle/>
          <a:p>
            <a:pPr marL="0" indent="0" algn="just">
              <a:buNone/>
            </a:pPr>
            <a:r>
              <a:rPr lang="es-US" sz="1700" dirty="0"/>
              <a:t>5. El comando </a:t>
            </a:r>
            <a:r>
              <a:rPr lang="es-US" sz="1700" dirty="0" err="1"/>
              <a:t>mvn</a:t>
            </a:r>
            <a:r>
              <a:rPr lang="es-US" sz="1700" dirty="0"/>
              <a:t> ya es reconocido por tu sistema, lo que significa que configuraste las variables de entorno correctamente. ​El mensaje de BUILD FAILURE que ves no es un error de instalación, sino que </a:t>
            </a:r>
            <a:r>
              <a:rPr lang="es-US" sz="1700" dirty="0" err="1"/>
              <a:t>Maven</a:t>
            </a:r>
            <a:r>
              <a:rPr lang="es-US" sz="1700" dirty="0"/>
              <a:t> te está diciendo: “Ya estoy aquí, pero no me has dicho qué quieres que haga”.</a:t>
            </a:r>
          </a:p>
        </p:txBody>
      </p:sp>
      <p:pic>
        <p:nvPicPr>
          <p:cNvPr id="6" name="Imagen 5">
            <a:extLst>
              <a:ext uri="{FF2B5EF4-FFF2-40B4-BE49-F238E27FC236}">
                <a16:creationId xmlns:a16="http://schemas.microsoft.com/office/drawing/2014/main" id="{5897B472-7ECC-AF39-19C4-0CE9F358C316}"/>
              </a:ext>
            </a:extLst>
          </p:cNvPr>
          <p:cNvPicPr>
            <a:picLocks noChangeAspect="1"/>
          </p:cNvPicPr>
          <p:nvPr/>
        </p:nvPicPr>
        <p:blipFill>
          <a:blip r:embed="rId2"/>
          <a:srcRect t="6709" b="17124"/>
          <a:stretch>
            <a:fillRect/>
          </a:stretch>
        </p:blipFill>
        <p:spPr>
          <a:xfrm>
            <a:off x="409816" y="2360645"/>
            <a:ext cx="5484979" cy="3150036"/>
          </a:xfrm>
          <a:prstGeom prst="rect">
            <a:avLst/>
          </a:prstGeom>
        </p:spPr>
      </p:pic>
      <p:sp>
        <p:nvSpPr>
          <p:cNvPr id="10" name="Marcador de contenido 2">
            <a:extLst>
              <a:ext uri="{FF2B5EF4-FFF2-40B4-BE49-F238E27FC236}">
                <a16:creationId xmlns:a16="http://schemas.microsoft.com/office/drawing/2014/main" id="{4E25883B-4224-BDA6-B31F-447CB57C1194}"/>
              </a:ext>
            </a:extLst>
          </p:cNvPr>
          <p:cNvSpPr txBox="1">
            <a:spLocks/>
          </p:cNvSpPr>
          <p:nvPr/>
        </p:nvSpPr>
        <p:spPr>
          <a:xfrm>
            <a:off x="6453815" y="226743"/>
            <a:ext cx="5738185"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6. BUILD SUCCESS indica que acabas de crear con éxito tu primer proyecto base (un esqueleto o “</a:t>
            </a:r>
            <a:r>
              <a:rPr lang="es-US" sz="1700" dirty="0" err="1"/>
              <a:t>archetype</a:t>
            </a:r>
            <a:r>
              <a:rPr lang="es-US" sz="1700" dirty="0"/>
              <a:t>”) para un microservicio con Spring.</a:t>
            </a:r>
          </a:p>
        </p:txBody>
      </p:sp>
      <p:pic>
        <p:nvPicPr>
          <p:cNvPr id="13" name="Imagen 12">
            <a:extLst>
              <a:ext uri="{FF2B5EF4-FFF2-40B4-BE49-F238E27FC236}">
                <a16:creationId xmlns:a16="http://schemas.microsoft.com/office/drawing/2014/main" id="{7947E655-DE76-D9FC-B4A3-BD7B8D222B20}"/>
              </a:ext>
            </a:extLst>
          </p:cNvPr>
          <p:cNvPicPr>
            <a:picLocks noChangeAspect="1"/>
          </p:cNvPicPr>
          <p:nvPr/>
        </p:nvPicPr>
        <p:blipFill>
          <a:blip r:embed="rId3"/>
          <a:stretch>
            <a:fillRect/>
          </a:stretch>
        </p:blipFill>
        <p:spPr>
          <a:xfrm>
            <a:off x="6776536" y="1518919"/>
            <a:ext cx="4738177" cy="2700748"/>
          </a:xfrm>
          <a:prstGeom prst="rect">
            <a:avLst/>
          </a:prstGeom>
        </p:spPr>
      </p:pic>
    </p:spTree>
    <p:extLst>
      <p:ext uri="{BB962C8B-B14F-4D97-AF65-F5344CB8AC3E}">
        <p14:creationId xmlns:p14="http://schemas.microsoft.com/office/powerpoint/2010/main" val="4140688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DD915EA-9F91-1BEF-F634-E84A9575C34A}"/>
              </a:ext>
            </a:extLst>
          </p:cNvPr>
          <p:cNvSpPr>
            <a:spLocks noGrp="1"/>
          </p:cNvSpPr>
          <p:nvPr>
            <p:ph sz="quarter" idx="13"/>
          </p:nvPr>
        </p:nvSpPr>
        <p:spPr>
          <a:xfrm>
            <a:off x="158879" y="191218"/>
            <a:ext cx="4459303" cy="3424107"/>
          </a:xfrm>
        </p:spPr>
        <p:txBody>
          <a:bodyPr>
            <a:normAutofit/>
          </a:bodyPr>
          <a:lstStyle/>
          <a:p>
            <a:pPr marL="0" indent="0" algn="just">
              <a:buNone/>
            </a:pPr>
            <a:r>
              <a:rPr lang="es-US" sz="1700" dirty="0"/>
              <a:t>7. Ya tienes la carpeta de tu proyecto </a:t>
            </a:r>
            <a:r>
              <a:rPr lang="es-US" sz="1700" dirty="0" err="1"/>
              <a:t>SpringMicroservise</a:t>
            </a:r>
            <a:r>
              <a:rPr lang="es-US" sz="1700" dirty="0"/>
              <a:t> creada en el directorio correcto.</a:t>
            </a:r>
          </a:p>
        </p:txBody>
      </p:sp>
      <p:pic>
        <p:nvPicPr>
          <p:cNvPr id="6" name="Imagen 5">
            <a:extLst>
              <a:ext uri="{FF2B5EF4-FFF2-40B4-BE49-F238E27FC236}">
                <a16:creationId xmlns:a16="http://schemas.microsoft.com/office/drawing/2014/main" id="{07A753AB-F9F4-C7E4-763A-FC9CABFA427E}"/>
              </a:ext>
            </a:extLst>
          </p:cNvPr>
          <p:cNvPicPr>
            <a:picLocks noChangeAspect="1"/>
          </p:cNvPicPr>
          <p:nvPr/>
        </p:nvPicPr>
        <p:blipFill>
          <a:blip r:embed="rId2"/>
          <a:srcRect l="10305" r="37963" b="55467"/>
          <a:stretch>
            <a:fillRect/>
          </a:stretch>
        </p:blipFill>
        <p:spPr>
          <a:xfrm>
            <a:off x="579520" y="1363840"/>
            <a:ext cx="3152797" cy="1526664"/>
          </a:xfrm>
          <a:prstGeom prst="rect">
            <a:avLst/>
          </a:prstGeom>
        </p:spPr>
      </p:pic>
      <p:sp>
        <p:nvSpPr>
          <p:cNvPr id="10" name="Marcador de contenido 2">
            <a:extLst>
              <a:ext uri="{FF2B5EF4-FFF2-40B4-BE49-F238E27FC236}">
                <a16:creationId xmlns:a16="http://schemas.microsoft.com/office/drawing/2014/main" id="{4A42BC26-56B2-2431-CA29-D7BBB8F889C2}"/>
              </a:ext>
            </a:extLst>
          </p:cNvPr>
          <p:cNvSpPr txBox="1">
            <a:spLocks/>
          </p:cNvSpPr>
          <p:nvPr/>
        </p:nvSpPr>
        <p:spPr>
          <a:xfrm>
            <a:off x="5522720" y="163735"/>
            <a:ext cx="6669280"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9. El archivo de configuración </a:t>
            </a:r>
            <a:r>
              <a:rPr lang="es-US" sz="1700" dirty="0" err="1"/>
              <a:t>msvc-course.yml</a:t>
            </a:r>
            <a:r>
              <a:rPr lang="es-US" sz="1700" dirty="0"/>
              <a:t> dentro de tu </a:t>
            </a:r>
            <a:r>
              <a:rPr lang="es-US" sz="1700" dirty="0" err="1"/>
              <a:t>Config</a:t>
            </a:r>
            <a:r>
              <a:rPr lang="es-US" sz="1700" dirty="0"/>
              <a:t> Server. Esta es la pieza clave para que tu </a:t>
            </a:r>
            <a:r>
              <a:rPr lang="es-US" sz="1700" dirty="0" err="1"/>
              <a:t>microservicio</a:t>
            </a:r>
            <a:r>
              <a:rPr lang="es-US" sz="1700" dirty="0"/>
              <a:t> de cursos sepa cómo conectarse a la base de datos y al servidor de descubrimiento.</a:t>
            </a:r>
          </a:p>
        </p:txBody>
      </p:sp>
      <p:pic>
        <p:nvPicPr>
          <p:cNvPr id="13" name="Imagen 12">
            <a:extLst>
              <a:ext uri="{FF2B5EF4-FFF2-40B4-BE49-F238E27FC236}">
                <a16:creationId xmlns:a16="http://schemas.microsoft.com/office/drawing/2014/main" id="{BC1D772B-C204-AB63-15D0-096FF970CD15}"/>
              </a:ext>
            </a:extLst>
          </p:cNvPr>
          <p:cNvPicPr>
            <a:picLocks noChangeAspect="1"/>
          </p:cNvPicPr>
          <p:nvPr/>
        </p:nvPicPr>
        <p:blipFill>
          <a:blip r:embed="rId3"/>
          <a:srcRect t="-2352" b="49269"/>
          <a:stretch>
            <a:fillRect/>
          </a:stretch>
        </p:blipFill>
        <p:spPr>
          <a:xfrm>
            <a:off x="402213" y="4847041"/>
            <a:ext cx="6094421" cy="1819741"/>
          </a:xfrm>
          <a:prstGeom prst="rect">
            <a:avLst/>
          </a:prstGeom>
        </p:spPr>
      </p:pic>
      <p:sp>
        <p:nvSpPr>
          <p:cNvPr id="17" name="Marcador de contenido 2">
            <a:extLst>
              <a:ext uri="{FF2B5EF4-FFF2-40B4-BE49-F238E27FC236}">
                <a16:creationId xmlns:a16="http://schemas.microsoft.com/office/drawing/2014/main" id="{BA4F84A7-37EC-4B63-0736-D2245D950D2D}"/>
              </a:ext>
            </a:extLst>
          </p:cNvPr>
          <p:cNvSpPr txBox="1">
            <a:spLocks/>
          </p:cNvSpPr>
          <p:nvPr/>
        </p:nvSpPr>
        <p:spPr>
          <a:xfrm>
            <a:off x="315320" y="3428870"/>
            <a:ext cx="6268209"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8. Ya lo abriste en IntelliJ IDEA (una excelente elección para Java) y que no solo tienes un proyecto simple, sino que ya estás trabajando con una arquitectura de Microservicios completa.</a:t>
            </a:r>
          </a:p>
        </p:txBody>
      </p:sp>
      <p:pic>
        <p:nvPicPr>
          <p:cNvPr id="20" name="Imagen 19">
            <a:extLst>
              <a:ext uri="{FF2B5EF4-FFF2-40B4-BE49-F238E27FC236}">
                <a16:creationId xmlns:a16="http://schemas.microsoft.com/office/drawing/2014/main" id="{59E99898-06A1-6143-2065-1B597DD6C8C3}"/>
              </a:ext>
            </a:extLst>
          </p:cNvPr>
          <p:cNvPicPr>
            <a:picLocks noChangeAspect="1"/>
          </p:cNvPicPr>
          <p:nvPr/>
        </p:nvPicPr>
        <p:blipFill>
          <a:blip r:embed="rId4"/>
          <a:srcRect r="22314" b="24365"/>
          <a:stretch>
            <a:fillRect/>
          </a:stretch>
        </p:blipFill>
        <p:spPr>
          <a:xfrm>
            <a:off x="6583529" y="1580331"/>
            <a:ext cx="4784703" cy="2620346"/>
          </a:xfrm>
          <a:prstGeom prst="rect">
            <a:avLst/>
          </a:prstGeom>
        </p:spPr>
      </p:pic>
    </p:spTree>
    <p:extLst>
      <p:ext uri="{BB962C8B-B14F-4D97-AF65-F5344CB8AC3E}">
        <p14:creationId xmlns:p14="http://schemas.microsoft.com/office/powerpoint/2010/main" val="412630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63B257-18F5-54BC-B9A7-59CEA60EE2F9}"/>
              </a:ext>
            </a:extLst>
          </p:cNvPr>
          <p:cNvSpPr>
            <a:spLocks noGrp="1"/>
          </p:cNvSpPr>
          <p:nvPr>
            <p:ph sz="quarter" idx="13"/>
          </p:nvPr>
        </p:nvSpPr>
        <p:spPr>
          <a:xfrm>
            <a:off x="5237694" y="187187"/>
            <a:ext cx="6678015" cy="3055513"/>
          </a:xfrm>
        </p:spPr>
        <p:txBody>
          <a:bodyPr>
            <a:normAutofit/>
          </a:bodyPr>
          <a:lstStyle/>
          <a:p>
            <a:pPr marL="0" indent="0" algn="just">
              <a:buNone/>
            </a:pPr>
            <a:r>
              <a:rPr lang="es-US" sz="1700" dirty="0"/>
              <a:t>11. El archivo </a:t>
            </a:r>
            <a:r>
              <a:rPr lang="es-US" sz="1700" dirty="0" err="1"/>
              <a:t>msvc-gateway.yml</a:t>
            </a:r>
            <a:r>
              <a:rPr lang="es-US" sz="1700" dirty="0"/>
              <a:t> está muy bien estructurada. Al ser el puerto 8080, este será el punto de entrada principal para cualquiera que quiera consumir tu API.</a:t>
            </a:r>
          </a:p>
        </p:txBody>
      </p:sp>
      <p:pic>
        <p:nvPicPr>
          <p:cNvPr id="6" name="Imagen 5">
            <a:extLst>
              <a:ext uri="{FF2B5EF4-FFF2-40B4-BE49-F238E27FC236}">
                <a16:creationId xmlns:a16="http://schemas.microsoft.com/office/drawing/2014/main" id="{59CD48E0-8156-BC39-1752-8CF185FCDADA}"/>
              </a:ext>
            </a:extLst>
          </p:cNvPr>
          <p:cNvPicPr>
            <a:picLocks noChangeAspect="1"/>
          </p:cNvPicPr>
          <p:nvPr/>
        </p:nvPicPr>
        <p:blipFill>
          <a:blip r:embed="rId2"/>
          <a:srcRect l="3019" r="23389" b="43010"/>
          <a:stretch>
            <a:fillRect/>
          </a:stretch>
        </p:blipFill>
        <p:spPr>
          <a:xfrm>
            <a:off x="328601" y="1714944"/>
            <a:ext cx="4484965" cy="1953668"/>
          </a:xfrm>
          <a:prstGeom prst="rect">
            <a:avLst/>
          </a:prstGeom>
        </p:spPr>
      </p:pic>
      <p:sp>
        <p:nvSpPr>
          <p:cNvPr id="8" name="Marcador de contenido 2">
            <a:extLst>
              <a:ext uri="{FF2B5EF4-FFF2-40B4-BE49-F238E27FC236}">
                <a16:creationId xmlns:a16="http://schemas.microsoft.com/office/drawing/2014/main" id="{065D9BD6-6FC2-AE3C-C239-0E1B715EE43F}"/>
              </a:ext>
            </a:extLst>
          </p:cNvPr>
          <p:cNvSpPr txBox="1">
            <a:spLocks/>
          </p:cNvSpPr>
          <p:nvPr/>
        </p:nvSpPr>
        <p:spPr>
          <a:xfrm>
            <a:off x="364565" y="396905"/>
            <a:ext cx="4343848"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10. </a:t>
            </a:r>
            <a:r>
              <a:rPr lang="es-US" sz="1700" dirty="0" err="1"/>
              <a:t>Msvc-eureka.yml</a:t>
            </a:r>
            <a:r>
              <a:rPr lang="es-US" sz="1700" dirty="0"/>
              <a:t> es la estándar y correcta para un Servidor Eureka (Discovery Server).</a:t>
            </a:r>
          </a:p>
        </p:txBody>
      </p:sp>
      <p:pic>
        <p:nvPicPr>
          <p:cNvPr id="11" name="Imagen 10">
            <a:extLst>
              <a:ext uri="{FF2B5EF4-FFF2-40B4-BE49-F238E27FC236}">
                <a16:creationId xmlns:a16="http://schemas.microsoft.com/office/drawing/2014/main" id="{147E654A-0A1E-01DE-D9C9-077670CE432C}"/>
              </a:ext>
            </a:extLst>
          </p:cNvPr>
          <p:cNvPicPr>
            <a:picLocks noChangeAspect="1"/>
          </p:cNvPicPr>
          <p:nvPr/>
        </p:nvPicPr>
        <p:blipFill>
          <a:blip r:embed="rId3"/>
          <a:srcRect l="3203" t="3317" r="25533" b="29865"/>
          <a:stretch>
            <a:fillRect/>
          </a:stretch>
        </p:blipFill>
        <p:spPr>
          <a:xfrm>
            <a:off x="6404777" y="1324330"/>
            <a:ext cx="4343848" cy="2290971"/>
          </a:xfrm>
          <a:prstGeom prst="rect">
            <a:avLst/>
          </a:prstGeom>
        </p:spPr>
      </p:pic>
      <p:sp>
        <p:nvSpPr>
          <p:cNvPr id="13" name="Marcador de contenido 2">
            <a:extLst>
              <a:ext uri="{FF2B5EF4-FFF2-40B4-BE49-F238E27FC236}">
                <a16:creationId xmlns:a16="http://schemas.microsoft.com/office/drawing/2014/main" id="{817EFC8E-E484-F0D7-85A0-5AAB735D8422}"/>
              </a:ext>
            </a:extLst>
          </p:cNvPr>
          <p:cNvSpPr txBox="1">
            <a:spLocks/>
          </p:cNvSpPr>
          <p:nvPr/>
        </p:nvSpPr>
        <p:spPr>
          <a:xfrm>
            <a:off x="328601" y="4382013"/>
            <a:ext cx="5486154"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12. El archivo </a:t>
            </a:r>
            <a:r>
              <a:rPr lang="es-US" sz="1700" dirty="0" err="1"/>
              <a:t>msvc-student.yml</a:t>
            </a:r>
            <a:r>
              <a:rPr lang="es-US" sz="1700" dirty="0"/>
              <a:t> completas el ciclo de configuración de tus microservicios base. A diferencia del servicio de cursos que usaba </a:t>
            </a:r>
            <a:r>
              <a:rPr lang="es-US" sz="1700" dirty="0" err="1"/>
              <a:t>PostgreSQL</a:t>
            </a:r>
            <a:r>
              <a:rPr lang="es-US" sz="1700" dirty="0"/>
              <a:t>, este lo tienes configurado para conectar con </a:t>
            </a:r>
            <a:r>
              <a:rPr lang="es-US" sz="1700" dirty="0" err="1"/>
              <a:t>MySQL</a:t>
            </a:r>
            <a:r>
              <a:rPr lang="es-US" sz="1700" dirty="0"/>
              <a:t>.</a:t>
            </a:r>
          </a:p>
        </p:txBody>
      </p:sp>
      <p:pic>
        <p:nvPicPr>
          <p:cNvPr id="16" name="Imagen 15">
            <a:extLst>
              <a:ext uri="{FF2B5EF4-FFF2-40B4-BE49-F238E27FC236}">
                <a16:creationId xmlns:a16="http://schemas.microsoft.com/office/drawing/2014/main" id="{41768998-E657-DE32-760A-1E42EC96B3A8}"/>
              </a:ext>
            </a:extLst>
          </p:cNvPr>
          <p:cNvPicPr>
            <a:picLocks noChangeAspect="1"/>
          </p:cNvPicPr>
          <p:nvPr/>
        </p:nvPicPr>
        <p:blipFill>
          <a:blip r:embed="rId4"/>
          <a:srcRect t="4440" r="28867" b="28774"/>
          <a:stretch>
            <a:fillRect/>
          </a:stretch>
        </p:blipFill>
        <p:spPr>
          <a:xfrm>
            <a:off x="6090646" y="4101419"/>
            <a:ext cx="4337880" cy="2290971"/>
          </a:xfrm>
          <a:prstGeom prst="rect">
            <a:avLst/>
          </a:prstGeom>
        </p:spPr>
      </p:pic>
    </p:spTree>
    <p:extLst>
      <p:ext uri="{BB962C8B-B14F-4D97-AF65-F5344CB8AC3E}">
        <p14:creationId xmlns:p14="http://schemas.microsoft.com/office/powerpoint/2010/main" val="507606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37C0BB-5133-0CFA-57B4-132CD8CFDF8F}"/>
              </a:ext>
            </a:extLst>
          </p:cNvPr>
          <p:cNvSpPr>
            <a:spLocks noGrp="1"/>
          </p:cNvSpPr>
          <p:nvPr>
            <p:ph sz="quarter" idx="13"/>
          </p:nvPr>
        </p:nvSpPr>
        <p:spPr>
          <a:xfrm>
            <a:off x="141117" y="182337"/>
            <a:ext cx="5542799" cy="3424107"/>
          </a:xfrm>
        </p:spPr>
        <p:txBody>
          <a:bodyPr>
            <a:normAutofit/>
          </a:bodyPr>
          <a:lstStyle/>
          <a:p>
            <a:pPr marL="0" indent="0" algn="just">
              <a:buNone/>
            </a:pPr>
            <a:r>
              <a:rPr lang="es-US" sz="1700" dirty="0"/>
              <a:t>13. El </a:t>
            </a:r>
            <a:r>
              <a:rPr lang="es-US" sz="1700" dirty="0" err="1"/>
              <a:t>Config</a:t>
            </a:r>
            <a:r>
              <a:rPr lang="es-US" sz="1700" dirty="0"/>
              <a:t> Server de una manera muy limpia y profesional. El archivo </a:t>
            </a:r>
            <a:r>
              <a:rPr lang="es-US" sz="1700" dirty="0" err="1"/>
              <a:t>application.yml</a:t>
            </a:r>
            <a:r>
              <a:rPr lang="es-US" sz="1700" dirty="0"/>
              <a:t>, queda claro cómo va a funcionar el “cerebro”.</a:t>
            </a:r>
          </a:p>
        </p:txBody>
      </p:sp>
      <p:pic>
        <p:nvPicPr>
          <p:cNvPr id="6" name="Imagen 5">
            <a:extLst>
              <a:ext uri="{FF2B5EF4-FFF2-40B4-BE49-F238E27FC236}">
                <a16:creationId xmlns:a16="http://schemas.microsoft.com/office/drawing/2014/main" id="{00382AD9-F9C8-30FF-1D53-9473272EDB34}"/>
              </a:ext>
            </a:extLst>
          </p:cNvPr>
          <p:cNvPicPr>
            <a:picLocks noChangeAspect="1"/>
          </p:cNvPicPr>
          <p:nvPr/>
        </p:nvPicPr>
        <p:blipFill>
          <a:blip r:embed="rId2"/>
          <a:srcRect l="21671" t="3342" r="8381" b="50000"/>
          <a:stretch>
            <a:fillRect/>
          </a:stretch>
        </p:blipFill>
        <p:spPr>
          <a:xfrm>
            <a:off x="561652" y="1510688"/>
            <a:ext cx="5012567" cy="2370845"/>
          </a:xfrm>
          <a:prstGeom prst="rect">
            <a:avLst/>
          </a:prstGeom>
        </p:spPr>
      </p:pic>
      <p:sp>
        <p:nvSpPr>
          <p:cNvPr id="8" name="Marcador de contenido 2">
            <a:extLst>
              <a:ext uri="{FF2B5EF4-FFF2-40B4-BE49-F238E27FC236}">
                <a16:creationId xmlns:a16="http://schemas.microsoft.com/office/drawing/2014/main" id="{63AFA5EA-9035-6CA6-DF94-6235B7278F3B}"/>
              </a:ext>
            </a:extLst>
          </p:cNvPr>
          <p:cNvSpPr txBox="1">
            <a:spLocks/>
          </p:cNvSpPr>
          <p:nvPr/>
        </p:nvSpPr>
        <p:spPr>
          <a:xfrm>
            <a:off x="6508084" y="110351"/>
            <a:ext cx="5542799"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14. La configurado en tu interfaz </a:t>
            </a:r>
            <a:r>
              <a:rPr lang="es-US" sz="1700" dirty="0" err="1"/>
              <a:t>StudentClient</a:t>
            </a:r>
            <a:r>
              <a:rPr lang="es-US" sz="1700" dirty="0"/>
              <a:t>, Estás declarando que este servicio (</a:t>
            </a:r>
            <a:r>
              <a:rPr lang="es-US" sz="1700" dirty="0" err="1"/>
              <a:t>msvc-course</a:t>
            </a:r>
            <a:r>
              <a:rPr lang="es-US" sz="1700" dirty="0"/>
              <a:t>) necesita consumir datos de </a:t>
            </a:r>
            <a:r>
              <a:rPr lang="es-US" sz="1700" dirty="0" err="1"/>
              <a:t>msvc-student</a:t>
            </a:r>
            <a:r>
              <a:rPr lang="es-US" sz="1700" dirty="0"/>
              <a:t>. Tienes puesto </a:t>
            </a:r>
            <a:r>
              <a:rPr lang="es-US" sz="1700" dirty="0" err="1"/>
              <a:t>url</a:t>
            </a:r>
            <a:r>
              <a:rPr lang="es-US" sz="1700" dirty="0"/>
              <a:t> = “localhost:8090”. Esto funciona perfecto para tus pruebas actuales en local.</a:t>
            </a:r>
          </a:p>
        </p:txBody>
      </p:sp>
      <p:pic>
        <p:nvPicPr>
          <p:cNvPr id="11" name="Imagen 10">
            <a:extLst>
              <a:ext uri="{FF2B5EF4-FFF2-40B4-BE49-F238E27FC236}">
                <a16:creationId xmlns:a16="http://schemas.microsoft.com/office/drawing/2014/main" id="{2EEF7CE1-0481-ADDA-13D8-F145A2F9EE4D}"/>
              </a:ext>
            </a:extLst>
          </p:cNvPr>
          <p:cNvPicPr>
            <a:picLocks noChangeAspect="1"/>
          </p:cNvPicPr>
          <p:nvPr/>
        </p:nvPicPr>
        <p:blipFill>
          <a:blip r:embed="rId3"/>
          <a:srcRect t="2843" r="15972" b="44826"/>
          <a:stretch>
            <a:fillRect/>
          </a:stretch>
        </p:blipFill>
        <p:spPr>
          <a:xfrm>
            <a:off x="6617782" y="1976545"/>
            <a:ext cx="5123073" cy="2024995"/>
          </a:xfrm>
          <a:prstGeom prst="rect">
            <a:avLst/>
          </a:prstGeom>
        </p:spPr>
      </p:pic>
      <p:sp>
        <p:nvSpPr>
          <p:cNvPr id="13" name="Marcador de contenido 2">
            <a:extLst>
              <a:ext uri="{FF2B5EF4-FFF2-40B4-BE49-F238E27FC236}">
                <a16:creationId xmlns:a16="http://schemas.microsoft.com/office/drawing/2014/main" id="{16C3CD94-A0E8-31AB-746F-3C9E76DF6B6A}"/>
              </a:ext>
            </a:extLst>
          </p:cNvPr>
          <p:cNvSpPr txBox="1">
            <a:spLocks/>
          </p:cNvSpPr>
          <p:nvPr/>
        </p:nvSpPr>
        <p:spPr>
          <a:xfrm>
            <a:off x="141117" y="4706523"/>
            <a:ext cx="5542799" cy="208635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15. La Clase </a:t>
            </a:r>
            <a:r>
              <a:rPr lang="es-US" sz="1700" dirty="0" err="1"/>
              <a:t>StudentDTO</a:t>
            </a:r>
            <a:r>
              <a:rPr lang="es-US" sz="1700" dirty="0"/>
              <a:t> que usar las anotaciones de Lombok (@Data, @Builder, etc.), mantienes el código limpio y te ahorras escribir manualmente los </a:t>
            </a:r>
            <a:r>
              <a:rPr lang="es-US" sz="1700" dirty="0" err="1"/>
              <a:t>getters</a:t>
            </a:r>
            <a:r>
              <a:rPr lang="es-US" sz="1700" dirty="0"/>
              <a:t>, </a:t>
            </a:r>
            <a:r>
              <a:rPr lang="es-US" sz="1700" dirty="0" err="1"/>
              <a:t>setters</a:t>
            </a:r>
            <a:r>
              <a:rPr lang="es-US" sz="1700" dirty="0"/>
              <a:t> y constructores.</a:t>
            </a:r>
          </a:p>
        </p:txBody>
      </p:sp>
      <p:pic>
        <p:nvPicPr>
          <p:cNvPr id="16" name="Imagen 15">
            <a:extLst>
              <a:ext uri="{FF2B5EF4-FFF2-40B4-BE49-F238E27FC236}">
                <a16:creationId xmlns:a16="http://schemas.microsoft.com/office/drawing/2014/main" id="{70A073D1-53E8-67C4-1D05-9E60D884FCC9}"/>
              </a:ext>
            </a:extLst>
          </p:cNvPr>
          <p:cNvPicPr>
            <a:picLocks noChangeAspect="1"/>
          </p:cNvPicPr>
          <p:nvPr/>
        </p:nvPicPr>
        <p:blipFill>
          <a:blip r:embed="rId4"/>
          <a:srcRect t="116" r="23536" b="47532"/>
          <a:stretch>
            <a:fillRect/>
          </a:stretch>
        </p:blipFill>
        <p:spPr>
          <a:xfrm>
            <a:off x="5870529" y="4412639"/>
            <a:ext cx="4660022" cy="1794696"/>
          </a:xfrm>
          <a:prstGeom prst="rect">
            <a:avLst/>
          </a:prstGeom>
        </p:spPr>
      </p:pic>
    </p:spTree>
    <p:extLst>
      <p:ext uri="{BB962C8B-B14F-4D97-AF65-F5344CB8AC3E}">
        <p14:creationId xmlns:p14="http://schemas.microsoft.com/office/powerpoint/2010/main" val="1166847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B1BA8C4-3E7D-6BCC-4D5E-D550F2CB40A9}"/>
              </a:ext>
            </a:extLst>
          </p:cNvPr>
          <p:cNvSpPr>
            <a:spLocks noGrp="1"/>
          </p:cNvSpPr>
          <p:nvPr>
            <p:ph sz="quarter" idx="13"/>
          </p:nvPr>
        </p:nvSpPr>
        <p:spPr>
          <a:xfrm>
            <a:off x="180195" y="253385"/>
            <a:ext cx="5915805" cy="3424107"/>
          </a:xfrm>
        </p:spPr>
        <p:txBody>
          <a:bodyPr>
            <a:normAutofit/>
          </a:bodyPr>
          <a:lstStyle/>
          <a:p>
            <a:pPr marL="0" indent="0" algn="just">
              <a:buNone/>
            </a:pPr>
            <a:r>
              <a:rPr lang="es-US" sz="1700" dirty="0"/>
              <a:t>16. El archivo </a:t>
            </a:r>
            <a:r>
              <a:rPr lang="es-US" sz="1700" dirty="0" err="1"/>
              <a:t>CourseController</a:t>
            </a:r>
            <a:r>
              <a:rPr lang="es-US" sz="1700" dirty="0"/>
              <a:t> ya tiene el </a:t>
            </a:r>
            <a:r>
              <a:rPr lang="es-US" sz="1700" dirty="0" err="1"/>
              <a:t>endpoint</a:t>
            </a:r>
            <a:r>
              <a:rPr lang="es-US" sz="1700" dirty="0"/>
              <a:t> listo para unir los mundos: el de los cursos y el de los estudiantes.</a:t>
            </a:r>
          </a:p>
        </p:txBody>
      </p:sp>
      <p:pic>
        <p:nvPicPr>
          <p:cNvPr id="6" name="Imagen 5">
            <a:extLst>
              <a:ext uri="{FF2B5EF4-FFF2-40B4-BE49-F238E27FC236}">
                <a16:creationId xmlns:a16="http://schemas.microsoft.com/office/drawing/2014/main" id="{36C2DD32-A12F-5FFD-078F-369731CFD585}"/>
              </a:ext>
            </a:extLst>
          </p:cNvPr>
          <p:cNvPicPr>
            <a:picLocks noChangeAspect="1"/>
          </p:cNvPicPr>
          <p:nvPr/>
        </p:nvPicPr>
        <p:blipFill>
          <a:blip r:embed="rId2"/>
          <a:srcRect l="20943" t="116" r="1823" b="22565"/>
          <a:stretch>
            <a:fillRect/>
          </a:stretch>
        </p:blipFill>
        <p:spPr>
          <a:xfrm>
            <a:off x="639440" y="1488040"/>
            <a:ext cx="4706993" cy="2650562"/>
          </a:xfrm>
          <a:prstGeom prst="rect">
            <a:avLst/>
          </a:prstGeom>
        </p:spPr>
      </p:pic>
      <p:sp>
        <p:nvSpPr>
          <p:cNvPr id="10" name="Marcador de contenido 2">
            <a:extLst>
              <a:ext uri="{FF2B5EF4-FFF2-40B4-BE49-F238E27FC236}">
                <a16:creationId xmlns:a16="http://schemas.microsoft.com/office/drawing/2014/main" id="{546C5B38-A378-3A2E-46F3-C464C98560C5}"/>
              </a:ext>
            </a:extLst>
          </p:cNvPr>
          <p:cNvSpPr txBox="1">
            <a:spLocks/>
          </p:cNvSpPr>
          <p:nvPr/>
        </p:nvSpPr>
        <p:spPr>
          <a:xfrm>
            <a:off x="96219" y="4671904"/>
            <a:ext cx="6386998"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17. </a:t>
            </a:r>
            <a:r>
              <a:rPr lang="es-US" sz="1700" dirty="0" err="1"/>
              <a:t>Course</a:t>
            </a:r>
            <a:r>
              <a:rPr lang="es-US" sz="1700" dirty="0"/>
              <a:t> cierra el círculo de la lógica de persistencia para el microservicio de cursos. Al igual que con tus </a:t>
            </a:r>
            <a:r>
              <a:rPr lang="es-US" sz="1700" dirty="0" err="1"/>
              <a:t>DTOs</a:t>
            </a:r>
            <a:r>
              <a:rPr lang="es-US" sz="1700" dirty="0"/>
              <a:t>, el uso de las anotaciones de </a:t>
            </a:r>
            <a:r>
              <a:rPr lang="es-US" sz="1700" dirty="0" err="1"/>
              <a:t>Lombok</a:t>
            </a:r>
            <a:r>
              <a:rPr lang="es-US" sz="1700" dirty="0"/>
              <a:t> (@Getter, @Setter, @Builder, etc.) mantiene tu código sumamente limpio y enfocado en el modelo de datos.</a:t>
            </a:r>
          </a:p>
        </p:txBody>
      </p:sp>
      <p:pic>
        <p:nvPicPr>
          <p:cNvPr id="13" name="Imagen 12">
            <a:extLst>
              <a:ext uri="{FF2B5EF4-FFF2-40B4-BE49-F238E27FC236}">
                <a16:creationId xmlns:a16="http://schemas.microsoft.com/office/drawing/2014/main" id="{EC5071BD-D433-4515-1C3D-DD42C6008A7F}"/>
              </a:ext>
            </a:extLst>
          </p:cNvPr>
          <p:cNvPicPr>
            <a:picLocks noChangeAspect="1"/>
          </p:cNvPicPr>
          <p:nvPr/>
        </p:nvPicPr>
        <p:blipFill>
          <a:blip r:embed="rId3"/>
          <a:srcRect t="4424" r="11690" b="36878"/>
          <a:stretch>
            <a:fillRect/>
          </a:stretch>
        </p:blipFill>
        <p:spPr>
          <a:xfrm>
            <a:off x="6483217" y="4476084"/>
            <a:ext cx="5384178" cy="2013077"/>
          </a:xfrm>
          <a:prstGeom prst="rect">
            <a:avLst/>
          </a:prstGeom>
        </p:spPr>
      </p:pic>
      <p:sp>
        <p:nvSpPr>
          <p:cNvPr id="15" name="Marcador de contenido 2">
            <a:extLst>
              <a:ext uri="{FF2B5EF4-FFF2-40B4-BE49-F238E27FC236}">
                <a16:creationId xmlns:a16="http://schemas.microsoft.com/office/drawing/2014/main" id="{B484381D-4AD2-EAE5-A3E4-52EBBCB0F25F}"/>
              </a:ext>
            </a:extLst>
          </p:cNvPr>
          <p:cNvSpPr txBox="1">
            <a:spLocks/>
          </p:cNvSpPr>
          <p:nvPr/>
        </p:nvSpPr>
        <p:spPr>
          <a:xfrm>
            <a:off x="7104895" y="244684"/>
            <a:ext cx="5028313"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18. Corremos y ejecutar a los cinco clases  </a:t>
            </a:r>
            <a:r>
              <a:rPr lang="es-US" sz="1700" dirty="0" err="1"/>
              <a:t>MicroserviceConfigApplication</a:t>
            </a:r>
            <a:r>
              <a:rPr lang="es-US" sz="1700" dirty="0"/>
              <a:t>,  </a:t>
            </a:r>
            <a:r>
              <a:rPr lang="es-US" sz="1700" dirty="0" err="1"/>
              <a:t>MicroserviceStudent</a:t>
            </a:r>
            <a:r>
              <a:rPr lang="es-US" sz="1700" dirty="0"/>
              <a:t> </a:t>
            </a:r>
            <a:r>
              <a:rPr lang="es-US" sz="1700" dirty="0" err="1"/>
              <a:t>Application</a:t>
            </a:r>
            <a:r>
              <a:rPr lang="es-US" sz="1700" dirty="0"/>
              <a:t>, </a:t>
            </a:r>
            <a:r>
              <a:rPr lang="es-US" sz="1700" dirty="0" err="1"/>
              <a:t>MicroserviceCoursnApplication</a:t>
            </a:r>
            <a:r>
              <a:rPr lang="es-US" sz="1700" dirty="0"/>
              <a:t> y </a:t>
            </a:r>
            <a:r>
              <a:rPr lang="es-US" sz="1700" dirty="0" err="1"/>
              <a:t>MicroserviceGatewayApplication</a:t>
            </a:r>
            <a:r>
              <a:rPr lang="es-US" sz="1700" dirty="0"/>
              <a:t>. </a:t>
            </a:r>
          </a:p>
        </p:txBody>
      </p:sp>
      <p:pic>
        <p:nvPicPr>
          <p:cNvPr id="18" name="Imagen 17">
            <a:extLst>
              <a:ext uri="{FF2B5EF4-FFF2-40B4-BE49-F238E27FC236}">
                <a16:creationId xmlns:a16="http://schemas.microsoft.com/office/drawing/2014/main" id="{8CE54680-55DE-08C3-7D7C-2725F81BD922}"/>
              </a:ext>
            </a:extLst>
          </p:cNvPr>
          <p:cNvPicPr>
            <a:picLocks noChangeAspect="1"/>
          </p:cNvPicPr>
          <p:nvPr/>
        </p:nvPicPr>
        <p:blipFill>
          <a:blip r:embed="rId4"/>
          <a:srcRect t="56992" b="7007"/>
          <a:stretch>
            <a:fillRect/>
          </a:stretch>
        </p:blipFill>
        <p:spPr>
          <a:xfrm>
            <a:off x="5743696" y="2174056"/>
            <a:ext cx="6096888" cy="1234655"/>
          </a:xfrm>
          <a:prstGeom prst="rect">
            <a:avLst/>
          </a:prstGeom>
        </p:spPr>
      </p:pic>
    </p:spTree>
    <p:extLst>
      <p:ext uri="{BB962C8B-B14F-4D97-AF65-F5344CB8AC3E}">
        <p14:creationId xmlns:p14="http://schemas.microsoft.com/office/powerpoint/2010/main" val="480009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8107A0A-3455-8821-3729-63DAF22844CA}"/>
              </a:ext>
            </a:extLst>
          </p:cNvPr>
          <p:cNvSpPr>
            <a:spLocks noGrp="1"/>
          </p:cNvSpPr>
          <p:nvPr>
            <p:ph sz="quarter" idx="13"/>
          </p:nvPr>
        </p:nvSpPr>
        <p:spPr>
          <a:xfrm>
            <a:off x="914087" y="546462"/>
            <a:ext cx="10363826" cy="3424107"/>
          </a:xfrm>
        </p:spPr>
        <p:txBody>
          <a:bodyPr>
            <a:normAutofit/>
          </a:bodyPr>
          <a:lstStyle/>
          <a:p>
            <a:pPr marL="0" indent="0" algn="just">
              <a:buNone/>
            </a:pPr>
            <a:r>
              <a:rPr lang="es-US" sz="1700" dirty="0"/>
              <a:t>19. El PostgreSQL y MySQL si esta funcionando correctamente donde puede ver la captura.</a:t>
            </a:r>
          </a:p>
        </p:txBody>
      </p:sp>
      <p:pic>
        <p:nvPicPr>
          <p:cNvPr id="6" name="Imagen 5">
            <a:extLst>
              <a:ext uri="{FF2B5EF4-FFF2-40B4-BE49-F238E27FC236}">
                <a16:creationId xmlns:a16="http://schemas.microsoft.com/office/drawing/2014/main" id="{3DC56C53-8E44-233D-1940-B628AEE65545}"/>
              </a:ext>
            </a:extLst>
          </p:cNvPr>
          <p:cNvPicPr>
            <a:picLocks noChangeAspect="1"/>
          </p:cNvPicPr>
          <p:nvPr/>
        </p:nvPicPr>
        <p:blipFill>
          <a:blip r:embed="rId2"/>
          <a:srcRect r="20767"/>
          <a:stretch>
            <a:fillRect/>
          </a:stretch>
        </p:blipFill>
        <p:spPr>
          <a:xfrm>
            <a:off x="393335" y="1270888"/>
            <a:ext cx="4828764" cy="3428112"/>
          </a:xfrm>
          <a:prstGeom prst="rect">
            <a:avLst/>
          </a:prstGeom>
        </p:spPr>
      </p:pic>
      <p:pic>
        <p:nvPicPr>
          <p:cNvPr id="9" name="Imagen 8">
            <a:extLst>
              <a:ext uri="{FF2B5EF4-FFF2-40B4-BE49-F238E27FC236}">
                <a16:creationId xmlns:a16="http://schemas.microsoft.com/office/drawing/2014/main" id="{7E64B81E-17B6-C2BD-0294-49C582B82210}"/>
              </a:ext>
            </a:extLst>
          </p:cNvPr>
          <p:cNvPicPr>
            <a:picLocks noChangeAspect="1"/>
          </p:cNvPicPr>
          <p:nvPr/>
        </p:nvPicPr>
        <p:blipFill>
          <a:blip r:embed="rId3"/>
          <a:srcRect r="9926"/>
          <a:stretch>
            <a:fillRect/>
          </a:stretch>
        </p:blipFill>
        <p:spPr>
          <a:xfrm>
            <a:off x="5742851" y="1349930"/>
            <a:ext cx="5489519" cy="3428112"/>
          </a:xfrm>
          <a:prstGeom prst="rect">
            <a:avLst/>
          </a:prstGeom>
        </p:spPr>
      </p:pic>
    </p:spTree>
    <p:extLst>
      <p:ext uri="{BB962C8B-B14F-4D97-AF65-F5344CB8AC3E}">
        <p14:creationId xmlns:p14="http://schemas.microsoft.com/office/powerpoint/2010/main" val="252582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9924B24-145E-AADA-31F1-6C206B293370}"/>
              </a:ext>
            </a:extLst>
          </p:cNvPr>
          <p:cNvSpPr>
            <a:spLocks noGrp="1"/>
          </p:cNvSpPr>
          <p:nvPr>
            <p:ph sz="quarter" idx="13"/>
          </p:nvPr>
        </p:nvSpPr>
        <p:spPr>
          <a:xfrm>
            <a:off x="167760" y="235624"/>
            <a:ext cx="5809233" cy="3424107"/>
          </a:xfrm>
        </p:spPr>
        <p:txBody>
          <a:bodyPr>
            <a:normAutofit/>
          </a:bodyPr>
          <a:lstStyle/>
          <a:p>
            <a:pPr marL="0" indent="0" algn="just">
              <a:buNone/>
            </a:pPr>
            <a:r>
              <a:rPr lang="es-US" sz="1700" dirty="0"/>
              <a:t>20. Eureka es el “apretón de manos” oficial de tu arquitectura. Ver las instancias de MSVC-COURSE y MSVC-STUDENT registradas y en estado UP confirma que el descubrimiento de servicios está funcionando al 100%.</a:t>
            </a:r>
          </a:p>
        </p:txBody>
      </p:sp>
      <p:pic>
        <p:nvPicPr>
          <p:cNvPr id="6" name="Imagen 5">
            <a:extLst>
              <a:ext uri="{FF2B5EF4-FFF2-40B4-BE49-F238E27FC236}">
                <a16:creationId xmlns:a16="http://schemas.microsoft.com/office/drawing/2014/main" id="{3A7EFDDC-43D1-7F90-A4BE-AF4676C96E2F}"/>
              </a:ext>
            </a:extLst>
          </p:cNvPr>
          <p:cNvPicPr>
            <a:picLocks noChangeAspect="1"/>
          </p:cNvPicPr>
          <p:nvPr/>
        </p:nvPicPr>
        <p:blipFill>
          <a:blip r:embed="rId2"/>
          <a:srcRect b="2437"/>
          <a:stretch>
            <a:fillRect/>
          </a:stretch>
        </p:blipFill>
        <p:spPr>
          <a:xfrm>
            <a:off x="275220" y="2166764"/>
            <a:ext cx="5594311" cy="3344591"/>
          </a:xfrm>
          <a:prstGeom prst="rect">
            <a:avLst/>
          </a:prstGeom>
        </p:spPr>
      </p:pic>
      <p:sp>
        <p:nvSpPr>
          <p:cNvPr id="8" name="Marcador de contenido 2">
            <a:extLst>
              <a:ext uri="{FF2B5EF4-FFF2-40B4-BE49-F238E27FC236}">
                <a16:creationId xmlns:a16="http://schemas.microsoft.com/office/drawing/2014/main" id="{4D51C731-1B11-30B3-BEB7-258ADA512BC2}"/>
              </a:ext>
            </a:extLst>
          </p:cNvPr>
          <p:cNvSpPr txBox="1">
            <a:spLocks/>
          </p:cNvSpPr>
          <p:nvPr/>
        </p:nvSpPr>
        <p:spPr>
          <a:xfrm>
            <a:off x="6346055" y="235623"/>
            <a:ext cx="5594311"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sz="1700" dirty="0"/>
              <a:t>21. Completar el flujo completo de una arquitectura de microservicios robusta. La captura de Bruno (similar a </a:t>
            </a:r>
            <a:r>
              <a:rPr lang="es-US" sz="1700" dirty="0" err="1"/>
              <a:t>Postman</a:t>
            </a:r>
            <a:r>
              <a:rPr lang="es-US" sz="1700" dirty="0"/>
              <a:t>) es la prueba definitiva: una respuesta unificada que combina datos de dos </a:t>
            </a:r>
            <a:r>
              <a:rPr lang="es-US" sz="1700" dirty="0" err="1"/>
              <a:t>microservicios</a:t>
            </a:r>
            <a:r>
              <a:rPr lang="es-US" sz="1700" dirty="0"/>
              <a:t> distintos a través de un Gateway.</a:t>
            </a:r>
          </a:p>
        </p:txBody>
      </p:sp>
      <p:pic>
        <p:nvPicPr>
          <p:cNvPr id="11" name="Imagen 10">
            <a:extLst>
              <a:ext uri="{FF2B5EF4-FFF2-40B4-BE49-F238E27FC236}">
                <a16:creationId xmlns:a16="http://schemas.microsoft.com/office/drawing/2014/main" id="{74070B94-49C6-6D65-B9C5-622DFE304FFF}"/>
              </a:ext>
            </a:extLst>
          </p:cNvPr>
          <p:cNvPicPr>
            <a:picLocks noChangeAspect="1"/>
          </p:cNvPicPr>
          <p:nvPr/>
        </p:nvPicPr>
        <p:blipFill>
          <a:blip r:embed="rId3"/>
          <a:srcRect l="6666" b="29311"/>
          <a:stretch>
            <a:fillRect/>
          </a:stretch>
        </p:blipFill>
        <p:spPr>
          <a:xfrm>
            <a:off x="6458023" y="2166764"/>
            <a:ext cx="4990643" cy="2424539"/>
          </a:xfrm>
          <a:prstGeom prst="rect">
            <a:avLst/>
          </a:prstGeom>
        </p:spPr>
      </p:pic>
    </p:spTree>
    <p:extLst>
      <p:ext uri="{BB962C8B-B14F-4D97-AF65-F5344CB8AC3E}">
        <p14:creationId xmlns:p14="http://schemas.microsoft.com/office/powerpoint/2010/main" val="286576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750939E-79D2-3DF3-B3B2-C7A282B9351E}"/>
              </a:ext>
            </a:extLst>
          </p:cNvPr>
          <p:cNvSpPr>
            <a:spLocks noGrp="1"/>
          </p:cNvSpPr>
          <p:nvPr>
            <p:ph sz="quarter" idx="13"/>
          </p:nvPr>
        </p:nvSpPr>
        <p:spPr>
          <a:xfrm>
            <a:off x="745033" y="439889"/>
            <a:ext cx="10363826" cy="3424107"/>
          </a:xfrm>
        </p:spPr>
        <p:txBody>
          <a:bodyPr>
            <a:normAutofit/>
          </a:bodyPr>
          <a:lstStyle/>
          <a:p>
            <a:pPr marL="0" indent="0" algn="just">
              <a:buNone/>
            </a:pPr>
            <a:r>
              <a:rPr lang="es-US" sz="1700" dirty="0"/>
              <a:t>22. Con estas últimas capturas has validado la consistencia de datos y la independencia de servicios dentro de tu arquitectura distribuida. Ver a “María González” aparecer tanto en la consulta unificada del curso como en la consulta directa al </a:t>
            </a:r>
            <a:r>
              <a:rPr lang="es-US" sz="1700" dirty="0" err="1"/>
              <a:t>microservicio</a:t>
            </a:r>
            <a:r>
              <a:rPr lang="es-US" sz="1700" dirty="0"/>
              <a:t> de estudiantes confirma que tu “fuente de verdad” es sólida. El </a:t>
            </a:r>
            <a:r>
              <a:rPr lang="es-US" sz="1700" dirty="0" err="1"/>
              <a:t>microservicio</a:t>
            </a:r>
            <a:r>
              <a:rPr lang="es-US" sz="1700" dirty="0"/>
              <a:t> de cursos devolvió a María porque tiene el </a:t>
            </a:r>
            <a:r>
              <a:rPr lang="es-US" sz="1700" dirty="0" err="1"/>
              <a:t>courseId</a:t>
            </a:r>
            <a:r>
              <a:rPr lang="es-US" sz="1700" dirty="0"/>
              <a:t>: 2. En la captura 726, al consultar directamente api/</a:t>
            </a:r>
            <a:r>
              <a:rPr lang="es-US" sz="1700" dirty="0" err="1"/>
              <a:t>student</a:t>
            </a:r>
            <a:r>
              <a:rPr lang="es-US" sz="1700" dirty="0"/>
              <a:t>/</a:t>
            </a:r>
            <a:r>
              <a:rPr lang="es-US" sz="1700" dirty="0" err="1"/>
              <a:t>search-by-course</a:t>
            </a:r>
            <a:r>
              <a:rPr lang="es-US" sz="1700" dirty="0"/>
              <a:t>/2, el sistema devolvió exactamente el mismo registro.</a:t>
            </a:r>
          </a:p>
        </p:txBody>
      </p:sp>
      <p:pic>
        <p:nvPicPr>
          <p:cNvPr id="6" name="Imagen 5">
            <a:extLst>
              <a:ext uri="{FF2B5EF4-FFF2-40B4-BE49-F238E27FC236}">
                <a16:creationId xmlns:a16="http://schemas.microsoft.com/office/drawing/2014/main" id="{49BD2D50-9FDD-180F-8DA3-11E613DB5A77}"/>
              </a:ext>
            </a:extLst>
          </p:cNvPr>
          <p:cNvPicPr>
            <a:picLocks noChangeAspect="1"/>
          </p:cNvPicPr>
          <p:nvPr/>
        </p:nvPicPr>
        <p:blipFill>
          <a:blip r:embed="rId2"/>
          <a:srcRect b="3283"/>
          <a:stretch>
            <a:fillRect/>
          </a:stretch>
        </p:blipFill>
        <p:spPr>
          <a:xfrm>
            <a:off x="2760584" y="2598113"/>
            <a:ext cx="6094421" cy="3315595"/>
          </a:xfrm>
          <a:prstGeom prst="rect">
            <a:avLst/>
          </a:prstGeom>
        </p:spPr>
      </p:pic>
    </p:spTree>
    <p:extLst>
      <p:ext uri="{BB962C8B-B14F-4D97-AF65-F5344CB8AC3E}">
        <p14:creationId xmlns:p14="http://schemas.microsoft.com/office/powerpoint/2010/main" val="1824014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706900"/>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1011466" y="1878630"/>
            <a:ext cx="10363826" cy="3424107"/>
          </a:xfrm>
        </p:spPr>
        <p:txBody>
          <a:bodyPr>
            <a:normAutofit/>
          </a:bodyPr>
          <a:lstStyle/>
          <a:p>
            <a:pPr marL="0" indent="0" algn="just">
              <a:buNone/>
            </a:pPr>
            <a:r>
              <a:rPr lang="es-US" sz="1700" dirty="0"/>
              <a:t>Como conclusión puedo decir sobre ​el éxito de la actividad queda validado mediante la operatividad total del ecosistema de microservicios. La confirmación de que las instancias de MSVC-COURSE y MSVC-STUDENT aparecen con estado UP en el panel de Eureka garantiza que el descubrimiento de servicios funciona correctamente. Finalmente, la prueba realizada en Bruno (cliente de API) es la evidencia definitiva de una arquitectura funcional: se logra obtener una respuesta unificada y consistente que integra datos de servicios independientes a través de un Gateway, asegurando la integridad y disponibilidad de la información en un entorno distribuido.  </a:t>
            </a:r>
          </a:p>
        </p:txBody>
      </p:sp>
    </p:spTree>
    <p:extLst>
      <p:ext uri="{BB962C8B-B14F-4D97-AF65-F5344CB8AC3E}">
        <p14:creationId xmlns:p14="http://schemas.microsoft.com/office/powerpoint/2010/main" val="234524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B72B167-EAB7-B54E-F139-AC2C07E13E95}"/>
              </a:ext>
            </a:extLst>
          </p:cNvPr>
          <p:cNvSpPr>
            <a:spLocks noGrp="1"/>
          </p:cNvSpPr>
          <p:nvPr>
            <p:ph sz="quarter" idx="13"/>
          </p:nvPr>
        </p:nvSpPr>
        <p:spPr>
          <a:xfrm>
            <a:off x="820468" y="547623"/>
            <a:ext cx="10363826" cy="3424107"/>
          </a:xfrm>
        </p:spPr>
        <p:txBody>
          <a:bodyPr>
            <a:normAutofit/>
          </a:bodyPr>
          <a:lstStyle/>
          <a:p>
            <a:pPr marL="0" indent="0">
              <a:buNone/>
            </a:pPr>
            <a:r>
              <a:rPr lang="es-MX" sz="1700" dirty="0"/>
              <a:t>Link de </a:t>
            </a:r>
            <a:r>
              <a:rPr lang="es-MX" sz="1700" dirty="0" err="1"/>
              <a:t>Github</a:t>
            </a:r>
            <a:r>
              <a:rPr lang="es-MX" sz="1700" dirty="0"/>
              <a:t>:</a:t>
            </a:r>
          </a:p>
        </p:txBody>
      </p:sp>
    </p:spTree>
    <p:extLst>
      <p:ext uri="{BB962C8B-B14F-4D97-AF65-F5344CB8AC3E}">
        <p14:creationId xmlns:p14="http://schemas.microsoft.com/office/powerpoint/2010/main" val="42390810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839</TotalTime>
  <Words>1148</Words>
  <Application>Microsoft Office PowerPoint</Application>
  <PresentationFormat>Panorámica</PresentationFormat>
  <Paragraphs>54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Bookman Old Style</vt:lpstr>
      <vt:lpstr>Rockwell</vt:lpstr>
      <vt:lpstr>Damask</vt:lpstr>
      <vt:lpstr>Instituto tecnológico de nacional de México  (instituto tecnológico de frontera Comalapa) </vt:lpstr>
      <vt:lpstr>Introducción </vt:lpstr>
      <vt:lpstr>JUSTIFICACIÓN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HP-INTEL7</cp:lastModifiedBy>
  <cp:revision>155</cp:revision>
  <dcterms:created xsi:type="dcterms:W3CDTF">2024-03-08T16:42:11Z</dcterms:created>
  <dcterms:modified xsi:type="dcterms:W3CDTF">2026-05-11T00:34:29Z</dcterms:modified>
</cp:coreProperties>
</file>